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Poppins Semi-Bold" charset="1" panose="00000700000000000000"/>
      <p:regular r:id="rId16"/>
    </p:embeddedFont>
    <p:embeddedFont>
      <p:font typeface="Poppin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https://www.kaggle.com/datasets/khusheekapoor/vehicle-insurance-fraud-detection" TargetMode="External" Type="http://schemas.openxmlformats.org/officeDocument/2006/relationships/hyperlink"/><Relationship Id="rId3" Target="https://www.nature.com/articles/s41598-025-25700-2?utm_source=chatgpt.com#Sec4" TargetMode="External" Type="http://schemas.openxmlformats.org/officeDocument/2006/relationships/hyperlink"/><Relationship Id="rId4" Target="../media/image5.png" Type="http://schemas.openxmlformats.org/officeDocument/2006/relationships/image"/><Relationship Id="rId5" Target="../media/image6.svg" Type="http://schemas.openxmlformats.org/officeDocument/2006/relationships/image"/><Relationship Id="rId6" Target="../media/image9.png" Type="http://schemas.openxmlformats.org/officeDocument/2006/relationships/image"/><Relationship Id="rId7" Target="../media/image10.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jpeg" Type="http://schemas.openxmlformats.org/officeDocument/2006/relationships/image"/><Relationship Id="rId7" Target="../media/image14.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6.jpeg" Type="http://schemas.openxmlformats.org/officeDocument/2006/relationships/image"/><Relationship Id="rId5" Target="../media/image1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8.jpeg" Type="http://schemas.openxmlformats.org/officeDocument/2006/relationships/image"/><Relationship Id="rId5" Target="../media/image19.jpe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0.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21.png" Type="http://schemas.openxmlformats.org/officeDocument/2006/relationships/image"/><Relationship Id="rId5" Target="../media/image2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5367786" y="6282760"/>
            <a:ext cx="12920214" cy="4533820"/>
          </a:xfrm>
          <a:custGeom>
            <a:avLst/>
            <a:gdLst/>
            <a:ahLst/>
            <a:cxnLst/>
            <a:rect r="r" b="b" t="t" l="l"/>
            <a:pathLst>
              <a:path h="4533820" w="12920214">
                <a:moveTo>
                  <a:pt x="0" y="4533820"/>
                </a:moveTo>
                <a:lnTo>
                  <a:pt x="12920214" y="4533820"/>
                </a:lnTo>
                <a:lnTo>
                  <a:pt x="12920214" y="0"/>
                </a:lnTo>
                <a:lnTo>
                  <a:pt x="0" y="0"/>
                </a:lnTo>
                <a:lnTo>
                  <a:pt x="0" y="453382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430000" y="0"/>
            <a:ext cx="6858000" cy="10287000"/>
          </a:xfrm>
          <a:custGeom>
            <a:avLst/>
            <a:gdLst/>
            <a:ahLst/>
            <a:cxnLst/>
            <a:rect r="r" b="b" t="t" l="l"/>
            <a:pathLst>
              <a:path h="10287000" w="6858000">
                <a:moveTo>
                  <a:pt x="0" y="0"/>
                </a:moveTo>
                <a:lnTo>
                  <a:pt x="6858000" y="0"/>
                </a:lnTo>
                <a:lnTo>
                  <a:pt x="6858000" y="10287000"/>
                </a:lnTo>
                <a:lnTo>
                  <a:pt x="0" y="10287000"/>
                </a:lnTo>
                <a:lnTo>
                  <a:pt x="0" y="0"/>
                </a:lnTo>
                <a:close/>
              </a:path>
            </a:pathLst>
          </a:custGeom>
          <a:blipFill>
            <a:blip r:embed="rId4"/>
            <a:stretch>
              <a:fillRect l="0" t="0" r="0" b="0"/>
            </a:stretch>
          </a:blipFill>
        </p:spPr>
      </p:sp>
      <p:sp>
        <p:nvSpPr>
          <p:cNvPr name="TextBox 4" id="4"/>
          <p:cNvSpPr txBox="true"/>
          <p:nvPr/>
        </p:nvSpPr>
        <p:spPr>
          <a:xfrm rot="0">
            <a:off x="1028700" y="1194022"/>
            <a:ext cx="10275052" cy="2886075"/>
          </a:xfrm>
          <a:prstGeom prst="rect">
            <a:avLst/>
          </a:prstGeom>
        </p:spPr>
        <p:txBody>
          <a:bodyPr anchor="t" rtlCol="false" tIns="0" lIns="0" bIns="0" rIns="0">
            <a:spAutoFit/>
          </a:bodyPr>
          <a:lstStyle/>
          <a:p>
            <a:pPr algn="l" marL="0" indent="0" lvl="0">
              <a:lnSpc>
                <a:spcPts val="11040"/>
              </a:lnSpc>
            </a:pPr>
            <a:r>
              <a:rPr lang="en-US" b="true" sz="9200">
                <a:solidFill>
                  <a:srgbClr val="5492B1"/>
                </a:solidFill>
                <a:latin typeface="Poppins Semi-Bold"/>
                <a:ea typeface="Poppins Semi-Bold"/>
                <a:cs typeface="Poppins Semi-Bold"/>
                <a:sym typeface="Poppins Semi-Bold"/>
              </a:rPr>
              <a:t>FraudShield Assurance</a:t>
            </a:r>
          </a:p>
        </p:txBody>
      </p:sp>
      <p:sp>
        <p:nvSpPr>
          <p:cNvPr name="Freeform 5" id="5"/>
          <p:cNvSpPr/>
          <p:nvPr/>
        </p:nvSpPr>
        <p:spPr>
          <a:xfrm flipH="true" flipV="false" rot="0">
            <a:off x="9144000" y="2057400"/>
            <a:ext cx="6737985" cy="8229600"/>
          </a:xfrm>
          <a:custGeom>
            <a:avLst/>
            <a:gdLst/>
            <a:ahLst/>
            <a:cxnLst/>
            <a:rect r="r" b="b" t="t" l="l"/>
            <a:pathLst>
              <a:path h="8229600" w="6737985">
                <a:moveTo>
                  <a:pt x="6737985" y="0"/>
                </a:moveTo>
                <a:lnTo>
                  <a:pt x="0" y="0"/>
                </a:lnTo>
                <a:lnTo>
                  <a:pt x="0" y="8229600"/>
                </a:lnTo>
                <a:lnTo>
                  <a:pt x="6737985" y="8229600"/>
                </a:lnTo>
                <a:lnTo>
                  <a:pt x="6737985" y="0"/>
                </a:lnTo>
                <a:close/>
              </a:path>
            </a:pathLst>
          </a:custGeom>
          <a:blipFill>
            <a:blip r:embed="rId5"/>
            <a:stretch>
              <a:fillRect l="0" t="0" r="0" b="0"/>
            </a:stretch>
          </a:blipFill>
        </p:spPr>
      </p:sp>
      <p:grpSp>
        <p:nvGrpSpPr>
          <p:cNvPr name="Group 6" id="6"/>
          <p:cNvGrpSpPr/>
          <p:nvPr/>
        </p:nvGrpSpPr>
        <p:grpSpPr>
          <a:xfrm rot="0">
            <a:off x="1028700" y="4727797"/>
            <a:ext cx="407440" cy="407440"/>
            <a:chOff x="0" y="0"/>
            <a:chExt cx="107309" cy="107309"/>
          </a:xfrm>
        </p:grpSpPr>
        <p:sp>
          <p:nvSpPr>
            <p:cNvPr name="Freeform 7" id="7"/>
            <p:cNvSpPr/>
            <p:nvPr/>
          </p:nvSpPr>
          <p:spPr>
            <a:xfrm flipH="false" flipV="false" rot="0">
              <a:off x="0" y="0"/>
              <a:ext cx="107309" cy="107309"/>
            </a:xfrm>
            <a:custGeom>
              <a:avLst/>
              <a:gdLst/>
              <a:ahLst/>
              <a:cxnLst/>
              <a:rect r="r" b="b" t="t" l="l"/>
              <a:pathLst>
                <a:path h="107309" w="107309">
                  <a:moveTo>
                    <a:pt x="0" y="0"/>
                  </a:moveTo>
                  <a:lnTo>
                    <a:pt x="107309" y="0"/>
                  </a:lnTo>
                  <a:lnTo>
                    <a:pt x="107309" y="107309"/>
                  </a:lnTo>
                  <a:lnTo>
                    <a:pt x="0" y="107309"/>
                  </a:lnTo>
                  <a:close/>
                </a:path>
              </a:pathLst>
            </a:custGeom>
            <a:solidFill>
              <a:srgbClr val="7FD3F2"/>
            </a:solidFill>
          </p:spPr>
        </p:sp>
        <p:sp>
          <p:nvSpPr>
            <p:cNvPr name="TextBox 8" id="8"/>
            <p:cNvSpPr txBox="true"/>
            <p:nvPr/>
          </p:nvSpPr>
          <p:spPr>
            <a:xfrm>
              <a:off x="0" y="-66675"/>
              <a:ext cx="107309" cy="173984"/>
            </a:xfrm>
            <a:prstGeom prst="rect">
              <a:avLst/>
            </a:prstGeom>
          </p:spPr>
          <p:txBody>
            <a:bodyPr anchor="ctr" rtlCol="false" tIns="50800" lIns="50800" bIns="50800" rIns="50800"/>
            <a:lstStyle/>
            <a:p>
              <a:pPr algn="ctr">
                <a:lnSpc>
                  <a:spcPts val="2914"/>
                </a:lnSpc>
              </a:pPr>
            </a:p>
          </p:txBody>
        </p:sp>
      </p:grpSp>
      <p:sp>
        <p:nvSpPr>
          <p:cNvPr name="TextBox 9" id="9"/>
          <p:cNvSpPr txBox="true"/>
          <p:nvPr/>
        </p:nvSpPr>
        <p:spPr>
          <a:xfrm rot="0">
            <a:off x="1685317" y="4691257"/>
            <a:ext cx="9618435" cy="1970776"/>
          </a:xfrm>
          <a:prstGeom prst="rect">
            <a:avLst/>
          </a:prstGeom>
        </p:spPr>
        <p:txBody>
          <a:bodyPr anchor="t" rtlCol="false" tIns="0" lIns="0" bIns="0" rIns="0">
            <a:spAutoFit/>
          </a:bodyPr>
          <a:lstStyle/>
          <a:p>
            <a:pPr algn="l">
              <a:lnSpc>
                <a:spcPts val="3937"/>
              </a:lnSpc>
            </a:pPr>
            <a:r>
              <a:rPr lang="en-US" sz="2812">
                <a:solidFill>
                  <a:srgbClr val="000000"/>
                </a:solidFill>
                <a:latin typeface="Poppins"/>
                <a:ea typeface="Poppins"/>
                <a:cs typeface="Poppins"/>
                <a:sym typeface="Poppins"/>
              </a:rPr>
              <a:t>Group Members:</a:t>
            </a:r>
          </a:p>
          <a:p>
            <a:pPr algn="l" marL="607274" indent="-303637" lvl="1">
              <a:lnSpc>
                <a:spcPts val="3937"/>
              </a:lnSpc>
              <a:buAutoNum type="arabicPeriod" startAt="1"/>
            </a:pPr>
            <a:r>
              <a:rPr lang="en-US" sz="2812">
                <a:solidFill>
                  <a:srgbClr val="000000"/>
                </a:solidFill>
                <a:latin typeface="Poppins"/>
                <a:ea typeface="Poppins"/>
                <a:cs typeface="Poppins"/>
                <a:sym typeface="Poppins"/>
              </a:rPr>
              <a:t>Qurat-ul-Ain Akhter</a:t>
            </a:r>
          </a:p>
          <a:p>
            <a:pPr algn="l" marL="607274" indent="-303637" lvl="1">
              <a:lnSpc>
                <a:spcPts val="3937"/>
              </a:lnSpc>
              <a:buAutoNum type="arabicPeriod" startAt="1"/>
            </a:pPr>
            <a:r>
              <a:rPr lang="en-US" sz="2812">
                <a:solidFill>
                  <a:srgbClr val="000000"/>
                </a:solidFill>
                <a:latin typeface="Poppins"/>
                <a:ea typeface="Poppins"/>
                <a:cs typeface="Poppins"/>
                <a:sym typeface="Poppins"/>
              </a:rPr>
              <a:t>Hajra Rao</a:t>
            </a:r>
          </a:p>
          <a:p>
            <a:pPr algn="l" marL="607274" indent="-303637" lvl="1">
              <a:lnSpc>
                <a:spcPts val="3937"/>
              </a:lnSpc>
              <a:buAutoNum type="arabicPeriod" startAt="1"/>
            </a:pPr>
            <a:r>
              <a:rPr lang="en-US" sz="2812">
                <a:solidFill>
                  <a:srgbClr val="000000"/>
                </a:solidFill>
                <a:latin typeface="Poppins"/>
                <a:ea typeface="Poppins"/>
                <a:cs typeface="Poppins"/>
                <a:sym typeface="Poppins"/>
              </a:rPr>
              <a:t>Gul Meena Yasmeen</a:t>
            </a:r>
          </a:p>
        </p:txBody>
      </p:sp>
      <p:sp>
        <p:nvSpPr>
          <p:cNvPr name="Freeform 10" id="10"/>
          <p:cNvSpPr/>
          <p:nvPr/>
        </p:nvSpPr>
        <p:spPr>
          <a:xfrm flipH="true" flipV="false" rot="0">
            <a:off x="262678" y="5780054"/>
            <a:ext cx="3552570" cy="4266187"/>
          </a:xfrm>
          <a:custGeom>
            <a:avLst/>
            <a:gdLst/>
            <a:ahLst/>
            <a:cxnLst/>
            <a:rect r="r" b="b" t="t" l="l"/>
            <a:pathLst>
              <a:path h="4266187" w="3552570">
                <a:moveTo>
                  <a:pt x="3552570" y="0"/>
                </a:moveTo>
                <a:lnTo>
                  <a:pt x="0" y="0"/>
                </a:lnTo>
                <a:lnTo>
                  <a:pt x="0" y="4266186"/>
                </a:lnTo>
                <a:lnTo>
                  <a:pt x="3552570" y="4266186"/>
                </a:lnTo>
                <a:lnTo>
                  <a:pt x="355257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1223287" y="0"/>
            <a:ext cx="7064713" cy="10287000"/>
            <a:chOff x="0" y="0"/>
            <a:chExt cx="1860665" cy="2709333"/>
          </a:xfrm>
        </p:grpSpPr>
        <p:sp>
          <p:nvSpPr>
            <p:cNvPr name="Freeform 3" id="3"/>
            <p:cNvSpPr/>
            <p:nvPr/>
          </p:nvSpPr>
          <p:spPr>
            <a:xfrm flipH="false" flipV="false" rot="0">
              <a:off x="0" y="0"/>
              <a:ext cx="1860665" cy="2709333"/>
            </a:xfrm>
            <a:custGeom>
              <a:avLst/>
              <a:gdLst/>
              <a:ahLst/>
              <a:cxnLst/>
              <a:rect r="r" b="b" t="t" l="l"/>
              <a:pathLst>
                <a:path h="2709333" w="1860665">
                  <a:moveTo>
                    <a:pt x="0" y="0"/>
                  </a:moveTo>
                  <a:lnTo>
                    <a:pt x="1860665" y="0"/>
                  </a:lnTo>
                  <a:lnTo>
                    <a:pt x="1860665" y="2709333"/>
                  </a:lnTo>
                  <a:lnTo>
                    <a:pt x="0" y="2709333"/>
                  </a:lnTo>
                  <a:close/>
                </a:path>
              </a:pathLst>
            </a:custGeom>
            <a:solidFill>
              <a:srgbClr val="59B1C6"/>
            </a:solidFill>
          </p:spPr>
        </p:sp>
        <p:sp>
          <p:nvSpPr>
            <p:cNvPr name="TextBox 4" id="4"/>
            <p:cNvSpPr txBox="true"/>
            <p:nvPr/>
          </p:nvSpPr>
          <p:spPr>
            <a:xfrm>
              <a:off x="0" y="-66675"/>
              <a:ext cx="1860665" cy="2776008"/>
            </a:xfrm>
            <a:prstGeom prst="rect">
              <a:avLst/>
            </a:prstGeom>
          </p:spPr>
          <p:txBody>
            <a:bodyPr anchor="ctr" rtlCol="false" tIns="50800" lIns="50800" bIns="50800" rIns="50800"/>
            <a:lstStyle/>
            <a:p>
              <a:pPr algn="ctr">
                <a:lnSpc>
                  <a:spcPts val="2914"/>
                </a:lnSpc>
              </a:pPr>
            </a:p>
          </p:txBody>
        </p:sp>
      </p:grpSp>
      <p:sp>
        <p:nvSpPr>
          <p:cNvPr name="Freeform 5" id="5"/>
          <p:cNvSpPr/>
          <p:nvPr/>
        </p:nvSpPr>
        <p:spPr>
          <a:xfrm flipH="true" flipV="false" rot="0">
            <a:off x="207960" y="5780054"/>
            <a:ext cx="3552570" cy="4266187"/>
          </a:xfrm>
          <a:custGeom>
            <a:avLst/>
            <a:gdLst/>
            <a:ahLst/>
            <a:cxnLst/>
            <a:rect r="r" b="b" t="t" l="l"/>
            <a:pathLst>
              <a:path h="4266187" w="3552570">
                <a:moveTo>
                  <a:pt x="3552570" y="0"/>
                </a:moveTo>
                <a:lnTo>
                  <a:pt x="0" y="0"/>
                </a:lnTo>
                <a:lnTo>
                  <a:pt x="0" y="4266186"/>
                </a:lnTo>
                <a:lnTo>
                  <a:pt x="3552570" y="4266186"/>
                </a:lnTo>
                <a:lnTo>
                  <a:pt x="35525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2132459" y="1028700"/>
            <a:ext cx="5246370" cy="4475129"/>
            <a:chOff x="0" y="0"/>
            <a:chExt cx="812800" cy="693315"/>
          </a:xfrm>
        </p:grpSpPr>
        <p:sp>
          <p:nvSpPr>
            <p:cNvPr name="Freeform 7" id="7"/>
            <p:cNvSpPr/>
            <p:nvPr/>
          </p:nvSpPr>
          <p:spPr>
            <a:xfrm flipH="false" flipV="false" rot="0">
              <a:off x="0" y="0"/>
              <a:ext cx="812800" cy="693315"/>
            </a:xfrm>
            <a:custGeom>
              <a:avLst/>
              <a:gdLst/>
              <a:ahLst/>
              <a:cxnLst/>
              <a:rect r="r" b="b" t="t" l="l"/>
              <a:pathLst>
                <a:path h="693315" w="812800">
                  <a:moveTo>
                    <a:pt x="33940" y="0"/>
                  </a:moveTo>
                  <a:lnTo>
                    <a:pt x="778860" y="0"/>
                  </a:lnTo>
                  <a:cubicBezTo>
                    <a:pt x="797604" y="0"/>
                    <a:pt x="812800" y="15196"/>
                    <a:pt x="812800" y="33940"/>
                  </a:cubicBezTo>
                  <a:lnTo>
                    <a:pt x="812800" y="659374"/>
                  </a:lnTo>
                  <a:cubicBezTo>
                    <a:pt x="812800" y="678119"/>
                    <a:pt x="797604" y="693315"/>
                    <a:pt x="778860" y="693315"/>
                  </a:cubicBezTo>
                  <a:lnTo>
                    <a:pt x="33940" y="693315"/>
                  </a:lnTo>
                  <a:cubicBezTo>
                    <a:pt x="24939" y="693315"/>
                    <a:pt x="16306" y="689739"/>
                    <a:pt x="9941" y="683374"/>
                  </a:cubicBezTo>
                  <a:cubicBezTo>
                    <a:pt x="3576" y="677009"/>
                    <a:pt x="0" y="668376"/>
                    <a:pt x="0" y="659374"/>
                  </a:cubicBezTo>
                  <a:lnTo>
                    <a:pt x="0" y="33940"/>
                  </a:lnTo>
                  <a:cubicBezTo>
                    <a:pt x="0" y="15196"/>
                    <a:pt x="15196" y="0"/>
                    <a:pt x="33940" y="0"/>
                  </a:cubicBezTo>
                  <a:close/>
                </a:path>
              </a:pathLst>
            </a:custGeom>
            <a:blipFill>
              <a:blip r:embed="rId4"/>
              <a:stretch>
                <a:fillRect l="-14014" t="0" r="-14014" b="0"/>
              </a:stretch>
            </a:blipFill>
          </p:spPr>
        </p:sp>
      </p:grpSp>
      <p:sp>
        <p:nvSpPr>
          <p:cNvPr name="TextBox 8" id="8"/>
          <p:cNvSpPr txBox="true"/>
          <p:nvPr/>
        </p:nvSpPr>
        <p:spPr>
          <a:xfrm rot="0">
            <a:off x="1028700" y="942975"/>
            <a:ext cx="9527238" cy="2886129"/>
          </a:xfrm>
          <a:prstGeom prst="rect">
            <a:avLst/>
          </a:prstGeom>
        </p:spPr>
        <p:txBody>
          <a:bodyPr anchor="t" rtlCol="false" tIns="0" lIns="0" bIns="0" rIns="0">
            <a:spAutoFit/>
          </a:bodyPr>
          <a:lstStyle/>
          <a:p>
            <a:pPr algn="l" marL="0" indent="0" lvl="0">
              <a:lnSpc>
                <a:spcPts val="11040"/>
              </a:lnSpc>
              <a:spcBef>
                <a:spcPct val="0"/>
              </a:spcBef>
            </a:pPr>
            <a:r>
              <a:rPr lang="en-US" sz="9200">
                <a:solidFill>
                  <a:srgbClr val="5492B1"/>
                </a:solidFill>
                <a:latin typeface="Poppins"/>
                <a:ea typeface="Poppins"/>
                <a:cs typeface="Poppins"/>
                <a:sym typeface="Poppins"/>
              </a:rPr>
              <a:t>Problem Statement</a:t>
            </a:r>
          </a:p>
        </p:txBody>
      </p:sp>
      <p:sp>
        <p:nvSpPr>
          <p:cNvPr name="TextBox 9" id="9"/>
          <p:cNvSpPr txBox="true"/>
          <p:nvPr/>
        </p:nvSpPr>
        <p:spPr>
          <a:xfrm rot="0">
            <a:off x="1028700" y="4032708"/>
            <a:ext cx="9527238" cy="3731924"/>
          </a:xfrm>
          <a:prstGeom prst="rect">
            <a:avLst/>
          </a:prstGeom>
        </p:spPr>
        <p:txBody>
          <a:bodyPr anchor="t" rtlCol="false" tIns="0" lIns="0" bIns="0" rIns="0">
            <a:spAutoFit/>
          </a:bodyPr>
          <a:lstStyle/>
          <a:p>
            <a:pPr algn="l" marL="512775" indent="-256387" lvl="1">
              <a:lnSpc>
                <a:spcPts val="3325"/>
              </a:lnSpc>
              <a:spcBef>
                <a:spcPct val="0"/>
              </a:spcBef>
              <a:buFont typeface="Arial"/>
              <a:buChar char="•"/>
            </a:pPr>
            <a:r>
              <a:rPr lang="en-US" sz="2375">
                <a:solidFill>
                  <a:srgbClr val="000000"/>
                </a:solidFill>
                <a:latin typeface="Poppins"/>
                <a:ea typeface="Poppins"/>
                <a:cs typeface="Poppins"/>
                <a:sym typeface="Poppins"/>
              </a:rPr>
              <a:t>Se</a:t>
            </a:r>
            <a:r>
              <a:rPr lang="en-US" sz="2375" strike="noStrike" u="none">
                <a:solidFill>
                  <a:srgbClr val="000000"/>
                </a:solidFill>
                <a:latin typeface="Poppins"/>
                <a:ea typeface="Poppins"/>
                <a:cs typeface="Poppins"/>
                <a:sym typeface="Poppins"/>
              </a:rPr>
              <a:t>c</a:t>
            </a:r>
            <a:r>
              <a:rPr lang="en-US" sz="2375" strike="noStrike" u="none">
                <a:solidFill>
                  <a:srgbClr val="000000"/>
                </a:solidFill>
                <a:latin typeface="Poppins"/>
                <a:ea typeface="Poppins"/>
                <a:cs typeface="Poppins"/>
                <a:sym typeface="Poppins"/>
              </a:rPr>
              <a:t>ureGu</a:t>
            </a:r>
            <a:r>
              <a:rPr lang="en-US" sz="2375" strike="noStrike" u="none">
                <a:solidFill>
                  <a:srgbClr val="000000"/>
                </a:solidFill>
                <a:latin typeface="Poppins"/>
                <a:ea typeface="Poppins"/>
                <a:cs typeface="Poppins"/>
                <a:sym typeface="Poppins"/>
              </a:rPr>
              <a:t>a</a:t>
            </a:r>
            <a:r>
              <a:rPr lang="en-US" sz="2375" strike="noStrike" u="none">
                <a:solidFill>
                  <a:srgbClr val="000000"/>
                </a:solidFill>
                <a:latin typeface="Poppins"/>
                <a:ea typeface="Poppins"/>
                <a:cs typeface="Poppins"/>
                <a:sym typeface="Poppins"/>
              </a:rPr>
              <a:t>rd</a:t>
            </a:r>
            <a:r>
              <a:rPr lang="en-US" sz="2375" strike="noStrike" u="none">
                <a:solidFill>
                  <a:srgbClr val="000000"/>
                </a:solidFill>
                <a:latin typeface="Poppins"/>
                <a:ea typeface="Poppins"/>
                <a:cs typeface="Poppins"/>
                <a:sym typeface="Poppins"/>
              </a:rPr>
              <a:t> In</a:t>
            </a:r>
            <a:r>
              <a:rPr lang="en-US" sz="2375" strike="noStrike" u="none">
                <a:solidFill>
                  <a:srgbClr val="000000"/>
                </a:solidFill>
                <a:latin typeface="Poppins"/>
                <a:ea typeface="Poppins"/>
                <a:cs typeface="Poppins"/>
                <a:sym typeface="Poppins"/>
              </a:rPr>
              <a:t>sura</a:t>
            </a:r>
            <a:r>
              <a:rPr lang="en-US" sz="2375" strike="noStrike" u="none">
                <a:solidFill>
                  <a:srgbClr val="000000"/>
                </a:solidFill>
                <a:latin typeface="Poppins"/>
                <a:ea typeface="Poppins"/>
                <a:cs typeface="Poppins"/>
                <a:sym typeface="Poppins"/>
              </a:rPr>
              <a:t>nce </a:t>
            </a:r>
            <a:r>
              <a:rPr lang="en-US" sz="2375" strike="noStrike" u="none">
                <a:solidFill>
                  <a:srgbClr val="000000"/>
                </a:solidFill>
                <a:latin typeface="Poppins"/>
                <a:ea typeface="Poppins"/>
                <a:cs typeface="Poppins"/>
                <a:sym typeface="Poppins"/>
              </a:rPr>
              <a:t>p</a:t>
            </a:r>
            <a:r>
              <a:rPr lang="en-US" sz="2375" strike="noStrike" u="none">
                <a:solidFill>
                  <a:srgbClr val="000000"/>
                </a:solidFill>
                <a:latin typeface="Poppins"/>
                <a:ea typeface="Poppins"/>
                <a:cs typeface="Poppins"/>
                <a:sym typeface="Poppins"/>
              </a:rPr>
              <a:t>r</a:t>
            </a:r>
            <a:r>
              <a:rPr lang="en-US" sz="2375" strike="noStrike" u="none">
                <a:solidFill>
                  <a:srgbClr val="000000"/>
                </a:solidFill>
                <a:latin typeface="Poppins"/>
                <a:ea typeface="Poppins"/>
                <a:cs typeface="Poppins"/>
                <a:sym typeface="Poppins"/>
              </a:rPr>
              <a:t>oc</a:t>
            </a:r>
            <a:r>
              <a:rPr lang="en-US" sz="2375" strike="noStrike" u="none">
                <a:solidFill>
                  <a:srgbClr val="000000"/>
                </a:solidFill>
                <a:latin typeface="Poppins"/>
                <a:ea typeface="Poppins"/>
                <a:cs typeface="Poppins"/>
                <a:sym typeface="Poppins"/>
              </a:rPr>
              <a:t>e</a:t>
            </a:r>
            <a:r>
              <a:rPr lang="en-US" sz="2375" strike="noStrike" u="none">
                <a:solidFill>
                  <a:srgbClr val="000000"/>
                </a:solidFill>
                <a:latin typeface="Poppins"/>
                <a:ea typeface="Poppins"/>
                <a:cs typeface="Poppins"/>
                <a:sym typeface="Poppins"/>
              </a:rPr>
              <a:t>ss</a:t>
            </a:r>
            <a:r>
              <a:rPr lang="en-US" sz="2375" strike="noStrike" u="none">
                <a:solidFill>
                  <a:srgbClr val="000000"/>
                </a:solidFill>
                <a:latin typeface="Poppins"/>
                <a:ea typeface="Poppins"/>
                <a:cs typeface="Poppins"/>
                <a:sym typeface="Poppins"/>
              </a:rPr>
              <a:t>es </a:t>
            </a:r>
            <a:r>
              <a:rPr lang="en-US" sz="2375" strike="noStrike" u="none">
                <a:solidFill>
                  <a:srgbClr val="000000"/>
                </a:solidFill>
                <a:latin typeface="Poppins"/>
                <a:ea typeface="Poppins"/>
                <a:cs typeface="Poppins"/>
                <a:sym typeface="Poppins"/>
              </a:rPr>
              <a:t>m</a:t>
            </a:r>
            <a:r>
              <a:rPr lang="en-US" sz="2375" strike="noStrike" u="none">
                <a:solidFill>
                  <a:srgbClr val="000000"/>
                </a:solidFill>
                <a:latin typeface="Poppins"/>
                <a:ea typeface="Poppins"/>
                <a:cs typeface="Poppins"/>
                <a:sym typeface="Poppins"/>
              </a:rPr>
              <a:t>i</a:t>
            </a:r>
            <a:r>
              <a:rPr lang="en-US" sz="2375" strike="noStrike" u="none">
                <a:solidFill>
                  <a:srgbClr val="000000"/>
                </a:solidFill>
                <a:latin typeface="Poppins"/>
                <a:ea typeface="Poppins"/>
                <a:cs typeface="Poppins"/>
                <a:sym typeface="Poppins"/>
              </a:rPr>
              <a:t>l</a:t>
            </a:r>
            <a:r>
              <a:rPr lang="en-US" sz="2375" strike="noStrike" u="none">
                <a:solidFill>
                  <a:srgbClr val="000000"/>
                </a:solidFill>
                <a:latin typeface="Poppins"/>
                <a:ea typeface="Poppins"/>
                <a:cs typeface="Poppins"/>
                <a:sym typeface="Poppins"/>
              </a:rPr>
              <a:t>lion</a:t>
            </a:r>
            <a:r>
              <a:rPr lang="en-US" sz="2375" strike="noStrike" u="none">
                <a:solidFill>
                  <a:srgbClr val="000000"/>
                </a:solidFill>
                <a:latin typeface="Poppins"/>
                <a:ea typeface="Poppins"/>
                <a:cs typeface="Poppins"/>
                <a:sym typeface="Poppins"/>
              </a:rPr>
              <a:t>s</a:t>
            </a:r>
            <a:r>
              <a:rPr lang="en-US" sz="2375" strike="noStrike" u="none">
                <a:solidFill>
                  <a:srgbClr val="000000"/>
                </a:solidFill>
                <a:latin typeface="Poppins"/>
                <a:ea typeface="Poppins"/>
                <a:cs typeface="Poppins"/>
                <a:sym typeface="Poppins"/>
              </a:rPr>
              <a:t> of </a:t>
            </a:r>
            <a:r>
              <a:rPr lang="en-US" sz="2375" strike="noStrike" u="none">
                <a:solidFill>
                  <a:srgbClr val="000000"/>
                </a:solidFill>
                <a:latin typeface="Poppins"/>
                <a:ea typeface="Poppins"/>
                <a:cs typeface="Poppins"/>
                <a:sym typeface="Poppins"/>
              </a:rPr>
              <a:t>cl</a:t>
            </a:r>
            <a:r>
              <a:rPr lang="en-US" sz="2375" strike="noStrike" u="none">
                <a:solidFill>
                  <a:srgbClr val="000000"/>
                </a:solidFill>
                <a:latin typeface="Poppins"/>
                <a:ea typeface="Poppins"/>
                <a:cs typeface="Poppins"/>
                <a:sym typeface="Poppins"/>
              </a:rPr>
              <a:t>ai</a:t>
            </a:r>
            <a:r>
              <a:rPr lang="en-US" sz="2375" strike="noStrike" u="none">
                <a:solidFill>
                  <a:srgbClr val="000000"/>
                </a:solidFill>
                <a:latin typeface="Poppins"/>
                <a:ea typeface="Poppins"/>
                <a:cs typeface="Poppins"/>
                <a:sym typeface="Poppins"/>
              </a:rPr>
              <a:t>ms mo</a:t>
            </a:r>
            <a:r>
              <a:rPr lang="en-US" sz="2375" strike="noStrike" u="none">
                <a:solidFill>
                  <a:srgbClr val="000000"/>
                </a:solidFill>
                <a:latin typeface="Poppins"/>
                <a:ea typeface="Poppins"/>
                <a:cs typeface="Poppins"/>
                <a:sym typeface="Poppins"/>
              </a:rPr>
              <a:t>nt</a:t>
            </a:r>
            <a:r>
              <a:rPr lang="en-US" sz="2375" strike="noStrike" u="none">
                <a:solidFill>
                  <a:srgbClr val="000000"/>
                </a:solidFill>
                <a:latin typeface="Poppins"/>
                <a:ea typeface="Poppins"/>
                <a:cs typeface="Poppins"/>
                <a:sym typeface="Poppins"/>
              </a:rPr>
              <a:t>h</a:t>
            </a:r>
            <a:r>
              <a:rPr lang="en-US" sz="2375" strike="noStrike" u="none">
                <a:solidFill>
                  <a:srgbClr val="000000"/>
                </a:solidFill>
                <a:latin typeface="Poppins"/>
                <a:ea typeface="Poppins"/>
                <a:cs typeface="Poppins"/>
                <a:sym typeface="Poppins"/>
              </a:rPr>
              <a:t>l</a:t>
            </a:r>
            <a:r>
              <a:rPr lang="en-US" sz="2375" strike="noStrike" u="none">
                <a:solidFill>
                  <a:srgbClr val="000000"/>
                </a:solidFill>
                <a:latin typeface="Poppins"/>
                <a:ea typeface="Poppins"/>
                <a:cs typeface="Poppins"/>
                <a:sym typeface="Poppins"/>
              </a:rPr>
              <a:t>y</a:t>
            </a:r>
          </a:p>
          <a:p>
            <a:pPr algn="l" marL="512775" indent="-256387" lvl="1">
              <a:lnSpc>
                <a:spcPts val="3325"/>
              </a:lnSpc>
              <a:spcBef>
                <a:spcPct val="0"/>
              </a:spcBef>
              <a:buFont typeface="Arial"/>
              <a:buChar char="•"/>
            </a:pPr>
            <a:r>
              <a:rPr lang="en-US" sz="2375" strike="noStrike" u="none">
                <a:solidFill>
                  <a:srgbClr val="000000"/>
                </a:solidFill>
                <a:latin typeface="Poppins"/>
                <a:ea typeface="Poppins"/>
                <a:cs typeface="Poppins"/>
                <a:sym typeface="Poppins"/>
              </a:rPr>
              <a:t>Curr</a:t>
            </a:r>
            <a:r>
              <a:rPr lang="en-US" sz="2375" strike="noStrike" u="none">
                <a:solidFill>
                  <a:srgbClr val="000000"/>
                </a:solidFill>
                <a:latin typeface="Poppins"/>
                <a:ea typeface="Poppins"/>
                <a:cs typeface="Poppins"/>
                <a:sym typeface="Poppins"/>
              </a:rPr>
              <a:t>en</a:t>
            </a:r>
            <a:r>
              <a:rPr lang="en-US" sz="2375" strike="noStrike" u="none">
                <a:solidFill>
                  <a:srgbClr val="000000"/>
                </a:solidFill>
                <a:latin typeface="Poppins"/>
                <a:ea typeface="Poppins"/>
                <a:cs typeface="Poppins"/>
                <a:sym typeface="Poppins"/>
              </a:rPr>
              <a:t>t</a:t>
            </a:r>
            <a:r>
              <a:rPr lang="en-US" sz="2375" strike="noStrike" u="none">
                <a:solidFill>
                  <a:srgbClr val="000000"/>
                </a:solidFill>
                <a:latin typeface="Poppins"/>
                <a:ea typeface="Poppins"/>
                <a:cs typeface="Poppins"/>
                <a:sym typeface="Poppins"/>
              </a:rPr>
              <a:t> s</a:t>
            </a:r>
            <a:r>
              <a:rPr lang="en-US" sz="2375" strike="noStrike" u="none">
                <a:solidFill>
                  <a:srgbClr val="000000"/>
                </a:solidFill>
                <a:latin typeface="Poppins"/>
                <a:ea typeface="Poppins"/>
                <a:cs typeface="Poppins"/>
                <a:sym typeface="Poppins"/>
              </a:rPr>
              <a:t>ys</a:t>
            </a:r>
            <a:r>
              <a:rPr lang="en-US" sz="2375" strike="noStrike" u="none">
                <a:solidFill>
                  <a:srgbClr val="000000"/>
                </a:solidFill>
                <a:latin typeface="Poppins"/>
                <a:ea typeface="Poppins"/>
                <a:cs typeface="Poppins"/>
                <a:sym typeface="Poppins"/>
              </a:rPr>
              <a:t>t</a:t>
            </a:r>
            <a:r>
              <a:rPr lang="en-US" sz="2375" strike="noStrike" u="none">
                <a:solidFill>
                  <a:srgbClr val="000000"/>
                </a:solidFill>
                <a:latin typeface="Poppins"/>
                <a:ea typeface="Poppins"/>
                <a:cs typeface="Poppins"/>
                <a:sym typeface="Poppins"/>
              </a:rPr>
              <a:t>em</a:t>
            </a:r>
            <a:r>
              <a:rPr lang="en-US" sz="2375" strike="noStrike" u="none">
                <a:solidFill>
                  <a:srgbClr val="000000"/>
                </a:solidFill>
                <a:latin typeface="Poppins"/>
                <a:ea typeface="Poppins"/>
                <a:cs typeface="Poppins"/>
                <a:sym typeface="Poppins"/>
              </a:rPr>
              <a:t> </a:t>
            </a:r>
            <a:r>
              <a:rPr lang="en-US" sz="2375" strike="noStrike" u="none">
                <a:solidFill>
                  <a:srgbClr val="000000"/>
                </a:solidFill>
                <a:latin typeface="Poppins"/>
                <a:ea typeface="Poppins"/>
                <a:cs typeface="Poppins"/>
                <a:sym typeface="Poppins"/>
              </a:rPr>
              <a:t>fl</a:t>
            </a:r>
            <a:r>
              <a:rPr lang="en-US" sz="2375" strike="noStrike" u="none">
                <a:solidFill>
                  <a:srgbClr val="000000"/>
                </a:solidFill>
                <a:latin typeface="Poppins"/>
                <a:ea typeface="Poppins"/>
                <a:cs typeface="Poppins"/>
                <a:sym typeface="Poppins"/>
              </a:rPr>
              <a:t>a</a:t>
            </a:r>
            <a:r>
              <a:rPr lang="en-US" sz="2375" strike="noStrike" u="none">
                <a:solidFill>
                  <a:srgbClr val="000000"/>
                </a:solidFill>
                <a:latin typeface="Poppins"/>
                <a:ea typeface="Poppins"/>
                <a:cs typeface="Poppins"/>
                <a:sym typeface="Poppins"/>
              </a:rPr>
              <a:t>gs</a:t>
            </a:r>
            <a:r>
              <a:rPr lang="en-US" sz="2375" strike="noStrike" u="none">
                <a:solidFill>
                  <a:srgbClr val="000000"/>
                </a:solidFill>
                <a:latin typeface="Poppins"/>
                <a:ea typeface="Poppins"/>
                <a:cs typeface="Poppins"/>
                <a:sym typeface="Poppins"/>
              </a:rPr>
              <a:t> </a:t>
            </a:r>
            <a:r>
              <a:rPr lang="en-US" sz="2375" strike="noStrike" u="none">
                <a:solidFill>
                  <a:srgbClr val="000000"/>
                </a:solidFill>
                <a:latin typeface="Poppins"/>
                <a:ea typeface="Poppins"/>
                <a:cs typeface="Poppins"/>
                <a:sym typeface="Poppins"/>
              </a:rPr>
              <a:t>on</a:t>
            </a:r>
            <a:r>
              <a:rPr lang="en-US" sz="2375" strike="noStrike" u="none">
                <a:solidFill>
                  <a:srgbClr val="000000"/>
                </a:solidFill>
                <a:latin typeface="Poppins"/>
                <a:ea typeface="Poppins"/>
                <a:cs typeface="Poppins"/>
                <a:sym typeface="Poppins"/>
              </a:rPr>
              <a:t>l</a:t>
            </a:r>
            <a:r>
              <a:rPr lang="en-US" sz="2375" strike="noStrike" u="none">
                <a:solidFill>
                  <a:srgbClr val="000000"/>
                </a:solidFill>
                <a:latin typeface="Poppins"/>
                <a:ea typeface="Poppins"/>
                <a:cs typeface="Poppins"/>
                <a:sym typeface="Poppins"/>
              </a:rPr>
              <a:t>y</a:t>
            </a:r>
            <a:r>
              <a:rPr lang="en-US" sz="2375" strike="noStrike" u="none">
                <a:solidFill>
                  <a:srgbClr val="000000"/>
                </a:solidFill>
                <a:latin typeface="Poppins"/>
                <a:ea typeface="Poppins"/>
                <a:cs typeface="Poppins"/>
                <a:sym typeface="Poppins"/>
              </a:rPr>
              <a:t> o</a:t>
            </a:r>
            <a:r>
              <a:rPr lang="en-US" sz="2375" strike="noStrike" u="none">
                <a:solidFill>
                  <a:srgbClr val="000000"/>
                </a:solidFill>
                <a:latin typeface="Poppins"/>
                <a:ea typeface="Poppins"/>
                <a:cs typeface="Poppins"/>
                <a:sym typeface="Poppins"/>
              </a:rPr>
              <a:t>bvious</a:t>
            </a:r>
            <a:r>
              <a:rPr lang="en-US" sz="2375" strike="noStrike" u="none">
                <a:solidFill>
                  <a:srgbClr val="000000"/>
                </a:solidFill>
                <a:latin typeface="Poppins"/>
                <a:ea typeface="Poppins"/>
                <a:cs typeface="Poppins"/>
                <a:sym typeface="Poppins"/>
              </a:rPr>
              <a:t> fr</a:t>
            </a:r>
            <a:r>
              <a:rPr lang="en-US" sz="2375" strike="noStrike" u="none">
                <a:solidFill>
                  <a:srgbClr val="000000"/>
                </a:solidFill>
                <a:latin typeface="Poppins"/>
                <a:ea typeface="Poppins"/>
                <a:cs typeface="Poppins"/>
                <a:sym typeface="Poppins"/>
              </a:rPr>
              <a:t>aud, </a:t>
            </a:r>
            <a:r>
              <a:rPr lang="en-US" sz="2375" strike="noStrike" u="none">
                <a:solidFill>
                  <a:srgbClr val="000000"/>
                </a:solidFill>
                <a:latin typeface="Poppins"/>
                <a:ea typeface="Poppins"/>
                <a:cs typeface="Poppins"/>
                <a:sym typeface="Poppins"/>
              </a:rPr>
              <a:t>mi</a:t>
            </a:r>
            <a:r>
              <a:rPr lang="en-US" sz="2375" strike="noStrike" u="none">
                <a:solidFill>
                  <a:srgbClr val="000000"/>
                </a:solidFill>
                <a:latin typeface="Poppins"/>
                <a:ea typeface="Poppins"/>
                <a:cs typeface="Poppins"/>
                <a:sym typeface="Poppins"/>
              </a:rPr>
              <a:t>ssi</a:t>
            </a:r>
            <a:r>
              <a:rPr lang="en-US" sz="2375" strike="noStrike" u="none">
                <a:solidFill>
                  <a:srgbClr val="000000"/>
                </a:solidFill>
                <a:latin typeface="Poppins"/>
                <a:ea typeface="Poppins"/>
                <a:cs typeface="Poppins"/>
                <a:sym typeface="Poppins"/>
              </a:rPr>
              <a:t>ng s</a:t>
            </a:r>
            <a:r>
              <a:rPr lang="en-US" sz="2375" strike="noStrike" u="none">
                <a:solidFill>
                  <a:srgbClr val="000000"/>
                </a:solidFill>
                <a:latin typeface="Poppins"/>
                <a:ea typeface="Poppins"/>
                <a:cs typeface="Poppins"/>
                <a:sym typeface="Poppins"/>
              </a:rPr>
              <a:t>ubtle</a:t>
            </a:r>
            <a:r>
              <a:rPr lang="en-US" sz="2375" strike="noStrike" u="none">
                <a:solidFill>
                  <a:srgbClr val="000000"/>
                </a:solidFill>
                <a:latin typeface="Poppins"/>
                <a:ea typeface="Poppins"/>
                <a:cs typeface="Poppins"/>
                <a:sym typeface="Poppins"/>
              </a:rPr>
              <a:t> </a:t>
            </a:r>
            <a:r>
              <a:rPr lang="en-US" sz="2375" strike="noStrike" u="none">
                <a:solidFill>
                  <a:srgbClr val="000000"/>
                </a:solidFill>
                <a:latin typeface="Poppins"/>
                <a:ea typeface="Poppins"/>
                <a:cs typeface="Poppins"/>
                <a:sym typeface="Poppins"/>
              </a:rPr>
              <a:t>pa</a:t>
            </a:r>
            <a:r>
              <a:rPr lang="en-US" sz="2375" strike="noStrike" u="none">
                <a:solidFill>
                  <a:srgbClr val="000000"/>
                </a:solidFill>
                <a:latin typeface="Poppins"/>
                <a:ea typeface="Poppins"/>
                <a:cs typeface="Poppins"/>
                <a:sym typeface="Poppins"/>
              </a:rPr>
              <a:t>tt</a:t>
            </a:r>
            <a:r>
              <a:rPr lang="en-US" sz="2375" strike="noStrike" u="none">
                <a:solidFill>
                  <a:srgbClr val="000000"/>
                </a:solidFill>
                <a:latin typeface="Poppins"/>
                <a:ea typeface="Poppins"/>
                <a:cs typeface="Poppins"/>
                <a:sym typeface="Poppins"/>
              </a:rPr>
              <a:t>er</a:t>
            </a:r>
            <a:r>
              <a:rPr lang="en-US" sz="2375" strike="noStrike" u="none">
                <a:solidFill>
                  <a:srgbClr val="000000"/>
                </a:solidFill>
                <a:latin typeface="Poppins"/>
                <a:ea typeface="Poppins"/>
                <a:cs typeface="Poppins"/>
                <a:sym typeface="Poppins"/>
              </a:rPr>
              <a:t>n</a:t>
            </a:r>
            <a:r>
              <a:rPr lang="en-US" sz="2375" strike="noStrike" u="none">
                <a:solidFill>
                  <a:srgbClr val="000000"/>
                </a:solidFill>
                <a:latin typeface="Poppins"/>
                <a:ea typeface="Poppins"/>
                <a:cs typeface="Poppins"/>
                <a:sym typeface="Poppins"/>
              </a:rPr>
              <a:t>s</a:t>
            </a:r>
          </a:p>
          <a:p>
            <a:pPr algn="l" marL="512775" indent="-256387" lvl="1">
              <a:lnSpc>
                <a:spcPts val="3325"/>
              </a:lnSpc>
              <a:spcBef>
                <a:spcPct val="0"/>
              </a:spcBef>
              <a:buFont typeface="Arial"/>
              <a:buChar char="•"/>
            </a:pPr>
            <a:r>
              <a:rPr lang="en-US" sz="2375" strike="noStrike" u="none">
                <a:solidFill>
                  <a:srgbClr val="000000"/>
                </a:solidFill>
                <a:latin typeface="Poppins"/>
                <a:ea typeface="Poppins"/>
                <a:cs typeface="Poppins"/>
                <a:sym typeface="Poppins"/>
              </a:rPr>
              <a:t>G</a:t>
            </a:r>
            <a:r>
              <a:rPr lang="en-US" sz="2375" strike="noStrike" u="none">
                <a:solidFill>
                  <a:srgbClr val="000000"/>
                </a:solidFill>
                <a:latin typeface="Poppins"/>
                <a:ea typeface="Poppins"/>
                <a:cs typeface="Poppins"/>
                <a:sym typeface="Poppins"/>
              </a:rPr>
              <a:t>oal</a:t>
            </a:r>
            <a:r>
              <a:rPr lang="en-US" sz="2375" strike="noStrike" u="none">
                <a:solidFill>
                  <a:srgbClr val="000000"/>
                </a:solidFill>
                <a:latin typeface="Poppins"/>
                <a:ea typeface="Poppins"/>
                <a:cs typeface="Poppins"/>
                <a:sym typeface="Poppins"/>
              </a:rPr>
              <a:t>s:</a:t>
            </a:r>
          </a:p>
          <a:p>
            <a:pPr algn="l" marL="512775" indent="-256387" lvl="1">
              <a:lnSpc>
                <a:spcPts val="3325"/>
              </a:lnSpc>
              <a:buAutoNum type="arabicPeriod" startAt="1"/>
            </a:pPr>
            <a:r>
              <a:rPr lang="en-US" sz="2375" strike="noStrike" u="none">
                <a:solidFill>
                  <a:srgbClr val="000000"/>
                </a:solidFill>
                <a:latin typeface="Poppins"/>
                <a:ea typeface="Poppins"/>
                <a:cs typeface="Poppins"/>
                <a:sym typeface="Poppins"/>
              </a:rPr>
              <a:t>Identif</a:t>
            </a:r>
            <a:r>
              <a:rPr lang="en-US" sz="2375" strike="noStrike" u="none">
                <a:solidFill>
                  <a:srgbClr val="000000"/>
                </a:solidFill>
                <a:latin typeface="Poppins"/>
                <a:ea typeface="Poppins"/>
                <a:cs typeface="Poppins"/>
                <a:sym typeface="Poppins"/>
              </a:rPr>
              <a:t>y </a:t>
            </a:r>
            <a:r>
              <a:rPr lang="en-US" sz="2375" strike="noStrike" u="none">
                <a:solidFill>
                  <a:srgbClr val="000000"/>
                </a:solidFill>
                <a:latin typeface="Poppins"/>
                <a:ea typeface="Poppins"/>
                <a:cs typeface="Poppins"/>
                <a:sym typeface="Poppins"/>
              </a:rPr>
              <a:t>s</a:t>
            </a:r>
            <a:r>
              <a:rPr lang="en-US" sz="2375" strike="noStrike" u="none">
                <a:solidFill>
                  <a:srgbClr val="000000"/>
                </a:solidFill>
                <a:latin typeface="Poppins"/>
                <a:ea typeface="Poppins"/>
                <a:cs typeface="Poppins"/>
                <a:sym typeface="Poppins"/>
              </a:rPr>
              <a:t>u</a:t>
            </a:r>
            <a:r>
              <a:rPr lang="en-US" sz="2375" strike="noStrike" u="none">
                <a:solidFill>
                  <a:srgbClr val="000000"/>
                </a:solidFill>
                <a:latin typeface="Poppins"/>
                <a:ea typeface="Poppins"/>
                <a:cs typeface="Poppins"/>
                <a:sym typeface="Poppins"/>
              </a:rPr>
              <a:t>spic</a:t>
            </a:r>
            <a:r>
              <a:rPr lang="en-US" sz="2375" strike="noStrike" u="none">
                <a:solidFill>
                  <a:srgbClr val="000000"/>
                </a:solidFill>
                <a:latin typeface="Poppins"/>
                <a:ea typeface="Poppins"/>
                <a:cs typeface="Poppins"/>
                <a:sym typeface="Poppins"/>
              </a:rPr>
              <a:t>i</a:t>
            </a:r>
            <a:r>
              <a:rPr lang="en-US" sz="2375" strike="noStrike" u="none">
                <a:solidFill>
                  <a:srgbClr val="000000"/>
                </a:solidFill>
                <a:latin typeface="Poppins"/>
                <a:ea typeface="Poppins"/>
                <a:cs typeface="Poppins"/>
                <a:sym typeface="Poppins"/>
              </a:rPr>
              <a:t>ous</a:t>
            </a:r>
            <a:r>
              <a:rPr lang="en-US" sz="2375" strike="noStrike" u="none">
                <a:solidFill>
                  <a:srgbClr val="000000"/>
                </a:solidFill>
                <a:latin typeface="Poppins"/>
                <a:ea typeface="Poppins"/>
                <a:cs typeface="Poppins"/>
                <a:sym typeface="Poppins"/>
              </a:rPr>
              <a:t> </a:t>
            </a:r>
            <a:r>
              <a:rPr lang="en-US" sz="2375" strike="noStrike" u="none">
                <a:solidFill>
                  <a:srgbClr val="000000"/>
                </a:solidFill>
                <a:latin typeface="Poppins"/>
                <a:ea typeface="Poppins"/>
                <a:cs typeface="Poppins"/>
                <a:sym typeface="Poppins"/>
              </a:rPr>
              <a:t>clai</a:t>
            </a:r>
            <a:r>
              <a:rPr lang="en-US" sz="2375" strike="noStrike" u="none">
                <a:solidFill>
                  <a:srgbClr val="000000"/>
                </a:solidFill>
                <a:latin typeface="Poppins"/>
                <a:ea typeface="Poppins"/>
                <a:cs typeface="Poppins"/>
                <a:sym typeface="Poppins"/>
              </a:rPr>
              <a:t>m</a:t>
            </a:r>
            <a:r>
              <a:rPr lang="en-US" sz="2375" strike="noStrike" u="none">
                <a:solidFill>
                  <a:srgbClr val="000000"/>
                </a:solidFill>
                <a:latin typeface="Poppins"/>
                <a:ea typeface="Poppins"/>
                <a:cs typeface="Poppins"/>
                <a:sym typeface="Poppins"/>
              </a:rPr>
              <a:t>s</a:t>
            </a:r>
            <a:r>
              <a:rPr lang="en-US" sz="2375" strike="noStrike" u="none">
                <a:solidFill>
                  <a:srgbClr val="000000"/>
                </a:solidFill>
                <a:latin typeface="Poppins"/>
                <a:ea typeface="Poppins"/>
                <a:cs typeface="Poppins"/>
                <a:sym typeface="Poppins"/>
              </a:rPr>
              <a:t> e</a:t>
            </a:r>
            <a:r>
              <a:rPr lang="en-US" sz="2375" strike="noStrike" u="none">
                <a:solidFill>
                  <a:srgbClr val="000000"/>
                </a:solidFill>
                <a:latin typeface="Poppins"/>
                <a:ea typeface="Poppins"/>
                <a:cs typeface="Poppins"/>
                <a:sym typeface="Poppins"/>
              </a:rPr>
              <a:t>ar</a:t>
            </a:r>
            <a:r>
              <a:rPr lang="en-US" sz="2375" strike="noStrike" u="none">
                <a:solidFill>
                  <a:srgbClr val="000000"/>
                </a:solidFill>
                <a:latin typeface="Poppins"/>
                <a:ea typeface="Poppins"/>
                <a:cs typeface="Poppins"/>
                <a:sym typeface="Poppins"/>
              </a:rPr>
              <a:t>l</a:t>
            </a:r>
            <a:r>
              <a:rPr lang="en-US" sz="2375" strike="noStrike" u="none">
                <a:solidFill>
                  <a:srgbClr val="000000"/>
                </a:solidFill>
                <a:latin typeface="Poppins"/>
                <a:ea typeface="Poppins"/>
                <a:cs typeface="Poppins"/>
                <a:sym typeface="Poppins"/>
              </a:rPr>
              <a:t>y</a:t>
            </a:r>
          </a:p>
          <a:p>
            <a:pPr algn="l" marL="512775" indent="-256387" lvl="1">
              <a:lnSpc>
                <a:spcPts val="3325"/>
              </a:lnSpc>
              <a:buAutoNum type="arabicPeriod" startAt="1"/>
            </a:pPr>
            <a:r>
              <a:rPr lang="en-US" sz="2375" strike="noStrike" u="none">
                <a:solidFill>
                  <a:srgbClr val="000000"/>
                </a:solidFill>
                <a:latin typeface="Poppins"/>
                <a:ea typeface="Poppins"/>
                <a:cs typeface="Poppins"/>
                <a:sym typeface="Poppins"/>
              </a:rPr>
              <a:t>Priori</a:t>
            </a:r>
            <a:r>
              <a:rPr lang="en-US" sz="2375" strike="noStrike" u="none">
                <a:solidFill>
                  <a:srgbClr val="000000"/>
                </a:solidFill>
                <a:latin typeface="Poppins"/>
                <a:ea typeface="Poppins"/>
                <a:cs typeface="Poppins"/>
                <a:sym typeface="Poppins"/>
              </a:rPr>
              <a:t>t</a:t>
            </a:r>
            <a:r>
              <a:rPr lang="en-US" sz="2375" strike="noStrike" u="none">
                <a:solidFill>
                  <a:srgbClr val="000000"/>
                </a:solidFill>
                <a:latin typeface="Poppins"/>
                <a:ea typeface="Poppins"/>
                <a:cs typeface="Poppins"/>
                <a:sym typeface="Poppins"/>
              </a:rPr>
              <a:t>iz</a:t>
            </a:r>
            <a:r>
              <a:rPr lang="en-US" sz="2375" strike="noStrike" u="none">
                <a:solidFill>
                  <a:srgbClr val="000000"/>
                </a:solidFill>
                <a:latin typeface="Poppins"/>
                <a:ea typeface="Poppins"/>
                <a:cs typeface="Poppins"/>
                <a:sym typeface="Poppins"/>
              </a:rPr>
              <a:t>e cl</a:t>
            </a:r>
            <a:r>
              <a:rPr lang="en-US" sz="2375" strike="noStrike" u="none">
                <a:solidFill>
                  <a:srgbClr val="000000"/>
                </a:solidFill>
                <a:latin typeface="Poppins"/>
                <a:ea typeface="Poppins"/>
                <a:cs typeface="Poppins"/>
                <a:sym typeface="Poppins"/>
              </a:rPr>
              <a:t>aims</a:t>
            </a:r>
            <a:r>
              <a:rPr lang="en-US" sz="2375" strike="noStrike" u="none">
                <a:solidFill>
                  <a:srgbClr val="000000"/>
                </a:solidFill>
                <a:latin typeface="Poppins"/>
                <a:ea typeface="Poppins"/>
                <a:cs typeface="Poppins"/>
                <a:sym typeface="Poppins"/>
              </a:rPr>
              <a:t> </a:t>
            </a:r>
            <a:r>
              <a:rPr lang="en-US" sz="2375" strike="noStrike" u="none">
                <a:solidFill>
                  <a:srgbClr val="000000"/>
                </a:solidFill>
                <a:latin typeface="Poppins"/>
                <a:ea typeface="Poppins"/>
                <a:cs typeface="Poppins"/>
                <a:sym typeface="Poppins"/>
              </a:rPr>
              <a:t>fo</a:t>
            </a:r>
            <a:r>
              <a:rPr lang="en-US" sz="2375" strike="noStrike" u="none">
                <a:solidFill>
                  <a:srgbClr val="000000"/>
                </a:solidFill>
                <a:latin typeface="Poppins"/>
                <a:ea typeface="Poppins"/>
                <a:cs typeface="Poppins"/>
                <a:sym typeface="Poppins"/>
              </a:rPr>
              <a:t>r</a:t>
            </a:r>
            <a:r>
              <a:rPr lang="en-US" sz="2375" strike="noStrike" u="none">
                <a:solidFill>
                  <a:srgbClr val="000000"/>
                </a:solidFill>
                <a:latin typeface="Poppins"/>
                <a:ea typeface="Poppins"/>
                <a:cs typeface="Poppins"/>
                <a:sym typeface="Poppins"/>
              </a:rPr>
              <a:t> inv</a:t>
            </a:r>
            <a:r>
              <a:rPr lang="en-US" sz="2375" strike="noStrike" u="none">
                <a:solidFill>
                  <a:srgbClr val="000000"/>
                </a:solidFill>
                <a:latin typeface="Poppins"/>
                <a:ea typeface="Poppins"/>
                <a:cs typeface="Poppins"/>
                <a:sym typeface="Poppins"/>
              </a:rPr>
              <a:t>e</a:t>
            </a:r>
            <a:r>
              <a:rPr lang="en-US" sz="2375" strike="noStrike" u="none">
                <a:solidFill>
                  <a:srgbClr val="000000"/>
                </a:solidFill>
                <a:latin typeface="Poppins"/>
                <a:ea typeface="Poppins"/>
                <a:cs typeface="Poppins"/>
                <a:sym typeface="Poppins"/>
              </a:rPr>
              <a:t>stig</a:t>
            </a:r>
            <a:r>
              <a:rPr lang="en-US" sz="2375" strike="noStrike" u="none">
                <a:solidFill>
                  <a:srgbClr val="000000"/>
                </a:solidFill>
                <a:latin typeface="Poppins"/>
                <a:ea typeface="Poppins"/>
                <a:cs typeface="Poppins"/>
                <a:sym typeface="Poppins"/>
              </a:rPr>
              <a:t>a</a:t>
            </a:r>
            <a:r>
              <a:rPr lang="en-US" sz="2375" strike="noStrike" u="none">
                <a:solidFill>
                  <a:srgbClr val="000000"/>
                </a:solidFill>
                <a:latin typeface="Poppins"/>
                <a:ea typeface="Poppins"/>
                <a:cs typeface="Poppins"/>
                <a:sym typeface="Poppins"/>
              </a:rPr>
              <a:t>ti</a:t>
            </a:r>
            <a:r>
              <a:rPr lang="en-US" sz="2375" strike="noStrike" u="none">
                <a:solidFill>
                  <a:srgbClr val="000000"/>
                </a:solidFill>
                <a:latin typeface="Poppins"/>
                <a:ea typeface="Poppins"/>
                <a:cs typeface="Poppins"/>
                <a:sym typeface="Poppins"/>
              </a:rPr>
              <a:t>on</a:t>
            </a:r>
          </a:p>
          <a:p>
            <a:pPr algn="l" marL="512775" indent="-256387" lvl="1">
              <a:lnSpc>
                <a:spcPts val="3325"/>
              </a:lnSpc>
              <a:buAutoNum type="arabicPeriod" startAt="1"/>
            </a:pPr>
            <a:r>
              <a:rPr lang="en-US" sz="2375" strike="noStrike" u="none">
                <a:solidFill>
                  <a:srgbClr val="000000"/>
                </a:solidFill>
                <a:latin typeface="Poppins"/>
                <a:ea typeface="Poppins"/>
                <a:cs typeface="Poppins"/>
                <a:sym typeface="Poppins"/>
              </a:rPr>
              <a:t>Reduce f</a:t>
            </a:r>
            <a:r>
              <a:rPr lang="en-US" sz="2375" strike="noStrike" u="none">
                <a:solidFill>
                  <a:srgbClr val="000000"/>
                </a:solidFill>
                <a:latin typeface="Poppins"/>
                <a:ea typeface="Poppins"/>
                <a:cs typeface="Poppins"/>
                <a:sym typeface="Poppins"/>
              </a:rPr>
              <a:t>inan</a:t>
            </a:r>
            <a:r>
              <a:rPr lang="en-US" sz="2375" strike="noStrike" u="none">
                <a:solidFill>
                  <a:srgbClr val="000000"/>
                </a:solidFill>
                <a:latin typeface="Poppins"/>
                <a:ea typeface="Poppins"/>
                <a:cs typeface="Poppins"/>
                <a:sym typeface="Poppins"/>
              </a:rPr>
              <a:t>c</a:t>
            </a:r>
            <a:r>
              <a:rPr lang="en-US" sz="2375" strike="noStrike" u="none">
                <a:solidFill>
                  <a:srgbClr val="000000"/>
                </a:solidFill>
                <a:latin typeface="Poppins"/>
                <a:ea typeface="Poppins"/>
                <a:cs typeface="Poppins"/>
                <a:sym typeface="Poppins"/>
              </a:rPr>
              <a:t>i</a:t>
            </a:r>
            <a:r>
              <a:rPr lang="en-US" sz="2375" strike="noStrike" u="none">
                <a:solidFill>
                  <a:srgbClr val="000000"/>
                </a:solidFill>
                <a:latin typeface="Poppins"/>
                <a:ea typeface="Poppins"/>
                <a:cs typeface="Poppins"/>
                <a:sym typeface="Poppins"/>
              </a:rPr>
              <a:t>al</a:t>
            </a:r>
            <a:r>
              <a:rPr lang="en-US" sz="2375" strike="noStrike" u="none">
                <a:solidFill>
                  <a:srgbClr val="000000"/>
                </a:solidFill>
                <a:latin typeface="Poppins"/>
                <a:ea typeface="Poppins"/>
                <a:cs typeface="Poppins"/>
                <a:sym typeface="Poppins"/>
              </a:rPr>
              <a:t> lo</a:t>
            </a:r>
            <a:r>
              <a:rPr lang="en-US" sz="2375" strike="noStrike" u="none">
                <a:solidFill>
                  <a:srgbClr val="000000"/>
                </a:solidFill>
                <a:latin typeface="Poppins"/>
                <a:ea typeface="Poppins"/>
                <a:cs typeface="Poppins"/>
                <a:sym typeface="Poppins"/>
              </a:rPr>
              <a:t>ss</a:t>
            </a:r>
            <a:r>
              <a:rPr lang="en-US" sz="2375" strike="noStrike" u="none">
                <a:solidFill>
                  <a:srgbClr val="000000"/>
                </a:solidFill>
                <a:latin typeface="Poppins"/>
                <a:ea typeface="Poppins"/>
                <a:cs typeface="Poppins"/>
                <a:sym typeface="Poppins"/>
              </a:rPr>
              <a:t> and </a:t>
            </a:r>
            <a:r>
              <a:rPr lang="en-US" sz="2375" strike="noStrike" u="none">
                <a:solidFill>
                  <a:srgbClr val="000000"/>
                </a:solidFill>
                <a:latin typeface="Poppins"/>
                <a:ea typeface="Poppins"/>
                <a:cs typeface="Poppins"/>
                <a:sym typeface="Poppins"/>
              </a:rPr>
              <a:t>op</a:t>
            </a:r>
            <a:r>
              <a:rPr lang="en-US" sz="2375" strike="noStrike" u="none">
                <a:solidFill>
                  <a:srgbClr val="000000"/>
                </a:solidFill>
                <a:latin typeface="Poppins"/>
                <a:ea typeface="Poppins"/>
                <a:cs typeface="Poppins"/>
                <a:sym typeface="Poppins"/>
              </a:rPr>
              <a:t>er</a:t>
            </a:r>
            <a:r>
              <a:rPr lang="en-US" sz="2375" strike="noStrike" u="none">
                <a:solidFill>
                  <a:srgbClr val="000000"/>
                </a:solidFill>
                <a:latin typeface="Poppins"/>
                <a:ea typeface="Poppins"/>
                <a:cs typeface="Poppins"/>
                <a:sym typeface="Poppins"/>
              </a:rPr>
              <a:t>a</a:t>
            </a:r>
            <a:r>
              <a:rPr lang="en-US" sz="2375" strike="noStrike" u="none">
                <a:solidFill>
                  <a:srgbClr val="000000"/>
                </a:solidFill>
                <a:latin typeface="Poppins"/>
                <a:ea typeface="Poppins"/>
                <a:cs typeface="Poppins"/>
                <a:sym typeface="Poppins"/>
              </a:rPr>
              <a:t>ti</a:t>
            </a:r>
            <a:r>
              <a:rPr lang="en-US" sz="2375" strike="noStrike" u="none">
                <a:solidFill>
                  <a:srgbClr val="000000"/>
                </a:solidFill>
                <a:latin typeface="Poppins"/>
                <a:ea typeface="Poppins"/>
                <a:cs typeface="Poppins"/>
                <a:sym typeface="Poppins"/>
              </a:rPr>
              <a:t>o</a:t>
            </a:r>
            <a:r>
              <a:rPr lang="en-US" sz="2375" strike="noStrike" u="none">
                <a:solidFill>
                  <a:srgbClr val="000000"/>
                </a:solidFill>
                <a:latin typeface="Poppins"/>
                <a:ea typeface="Poppins"/>
                <a:cs typeface="Poppins"/>
                <a:sym typeface="Poppins"/>
              </a:rPr>
              <a:t>n</a:t>
            </a:r>
            <a:r>
              <a:rPr lang="en-US" sz="2375" strike="noStrike" u="none">
                <a:solidFill>
                  <a:srgbClr val="000000"/>
                </a:solidFill>
                <a:latin typeface="Poppins"/>
                <a:ea typeface="Poppins"/>
                <a:cs typeface="Poppins"/>
                <a:sym typeface="Poppins"/>
              </a:rPr>
              <a:t>al</a:t>
            </a:r>
            <a:r>
              <a:rPr lang="en-US" sz="2375" strike="noStrike" u="none">
                <a:solidFill>
                  <a:srgbClr val="000000"/>
                </a:solidFill>
                <a:latin typeface="Poppins"/>
                <a:ea typeface="Poppins"/>
                <a:cs typeface="Poppins"/>
                <a:sym typeface="Poppins"/>
              </a:rPr>
              <a:t> </a:t>
            </a:r>
            <a:r>
              <a:rPr lang="en-US" sz="2375" strike="noStrike" u="none">
                <a:solidFill>
                  <a:srgbClr val="000000"/>
                </a:solidFill>
                <a:latin typeface="Poppins"/>
                <a:ea typeface="Poppins"/>
                <a:cs typeface="Poppins"/>
                <a:sym typeface="Poppins"/>
              </a:rPr>
              <a:t>i</a:t>
            </a:r>
            <a:r>
              <a:rPr lang="en-US" sz="2375" strike="noStrike" u="none">
                <a:solidFill>
                  <a:srgbClr val="000000"/>
                </a:solidFill>
                <a:latin typeface="Poppins"/>
                <a:ea typeface="Poppins"/>
                <a:cs typeface="Poppins"/>
                <a:sym typeface="Poppins"/>
              </a:rPr>
              <a:t>ne</a:t>
            </a:r>
            <a:r>
              <a:rPr lang="en-US" sz="2375" strike="noStrike" u="none">
                <a:solidFill>
                  <a:srgbClr val="000000"/>
                </a:solidFill>
                <a:latin typeface="Poppins"/>
                <a:ea typeface="Poppins"/>
                <a:cs typeface="Poppins"/>
                <a:sym typeface="Poppins"/>
              </a:rPr>
              <a:t>ff</a:t>
            </a:r>
            <a:r>
              <a:rPr lang="en-US" sz="2375" strike="noStrike" u="none">
                <a:solidFill>
                  <a:srgbClr val="000000"/>
                </a:solidFill>
                <a:latin typeface="Poppins"/>
                <a:ea typeface="Poppins"/>
                <a:cs typeface="Poppins"/>
                <a:sym typeface="Poppins"/>
              </a:rPr>
              <a:t>i</a:t>
            </a:r>
            <a:r>
              <a:rPr lang="en-US" sz="2375" strike="noStrike" u="none">
                <a:solidFill>
                  <a:srgbClr val="000000"/>
                </a:solidFill>
                <a:latin typeface="Poppins"/>
                <a:ea typeface="Poppins"/>
                <a:cs typeface="Poppins"/>
                <a:sym typeface="Poppins"/>
              </a:rPr>
              <a:t>c</a:t>
            </a:r>
            <a:r>
              <a:rPr lang="en-US" sz="2375" strike="noStrike" u="none">
                <a:solidFill>
                  <a:srgbClr val="000000"/>
                </a:solidFill>
                <a:latin typeface="Poppins"/>
                <a:ea typeface="Poppins"/>
                <a:cs typeface="Poppins"/>
                <a:sym typeface="Poppins"/>
              </a:rPr>
              <a:t>i</a:t>
            </a:r>
            <a:r>
              <a:rPr lang="en-US" sz="2375" strike="noStrike" u="none">
                <a:solidFill>
                  <a:srgbClr val="000000"/>
                </a:solidFill>
                <a:latin typeface="Poppins"/>
                <a:ea typeface="Poppins"/>
                <a:cs typeface="Poppins"/>
                <a:sym typeface="Poppins"/>
              </a:rPr>
              <a:t>e</a:t>
            </a:r>
            <a:r>
              <a:rPr lang="en-US" sz="2375" strike="noStrike" u="none">
                <a:solidFill>
                  <a:srgbClr val="000000"/>
                </a:solidFill>
                <a:latin typeface="Poppins"/>
                <a:ea typeface="Poppins"/>
                <a:cs typeface="Poppins"/>
                <a:sym typeface="Poppins"/>
              </a:rPr>
              <a:t>n</a:t>
            </a:r>
            <a:r>
              <a:rPr lang="en-US" sz="2375" strike="noStrike" u="none">
                <a:solidFill>
                  <a:srgbClr val="000000"/>
                </a:solidFill>
                <a:latin typeface="Poppins"/>
                <a:ea typeface="Poppins"/>
                <a:cs typeface="Poppins"/>
                <a:sym typeface="Poppins"/>
              </a:rPr>
              <a:t>cy</a:t>
            </a:r>
          </a:p>
          <a:p>
            <a:pPr algn="l" marL="0" indent="0" lvl="0">
              <a:lnSpc>
                <a:spcPts val="3325"/>
              </a:lnSpc>
              <a:spcBef>
                <a:spcPct val="0"/>
              </a:spcBef>
            </a:pPr>
          </a:p>
        </p:txBody>
      </p:sp>
      <p:grpSp>
        <p:nvGrpSpPr>
          <p:cNvPr name="Group 10" id="10"/>
          <p:cNvGrpSpPr/>
          <p:nvPr/>
        </p:nvGrpSpPr>
        <p:grpSpPr>
          <a:xfrm rot="0">
            <a:off x="12132459" y="6327235"/>
            <a:ext cx="5246370" cy="2931065"/>
            <a:chOff x="0" y="0"/>
            <a:chExt cx="812800" cy="454099"/>
          </a:xfrm>
        </p:grpSpPr>
        <p:sp>
          <p:nvSpPr>
            <p:cNvPr name="Freeform 11" id="11"/>
            <p:cNvSpPr/>
            <p:nvPr/>
          </p:nvSpPr>
          <p:spPr>
            <a:xfrm flipH="false" flipV="false" rot="0">
              <a:off x="0" y="0"/>
              <a:ext cx="812800" cy="454099"/>
            </a:xfrm>
            <a:custGeom>
              <a:avLst/>
              <a:gdLst/>
              <a:ahLst/>
              <a:cxnLst/>
              <a:rect r="r" b="b" t="t" l="l"/>
              <a:pathLst>
                <a:path h="454099" w="812800">
                  <a:moveTo>
                    <a:pt x="33940" y="0"/>
                  </a:moveTo>
                  <a:lnTo>
                    <a:pt x="778860" y="0"/>
                  </a:lnTo>
                  <a:cubicBezTo>
                    <a:pt x="797604" y="0"/>
                    <a:pt x="812800" y="15196"/>
                    <a:pt x="812800" y="33940"/>
                  </a:cubicBezTo>
                  <a:lnTo>
                    <a:pt x="812800" y="420158"/>
                  </a:lnTo>
                  <a:cubicBezTo>
                    <a:pt x="812800" y="438903"/>
                    <a:pt x="797604" y="454099"/>
                    <a:pt x="778860" y="454099"/>
                  </a:cubicBezTo>
                  <a:lnTo>
                    <a:pt x="33940" y="454099"/>
                  </a:lnTo>
                  <a:cubicBezTo>
                    <a:pt x="15196" y="454099"/>
                    <a:pt x="0" y="438903"/>
                    <a:pt x="0" y="420158"/>
                  </a:cubicBezTo>
                  <a:lnTo>
                    <a:pt x="0" y="33940"/>
                  </a:lnTo>
                  <a:cubicBezTo>
                    <a:pt x="0" y="15196"/>
                    <a:pt x="15196" y="0"/>
                    <a:pt x="33940" y="0"/>
                  </a:cubicBezTo>
                  <a:close/>
                </a:path>
              </a:pathLst>
            </a:custGeom>
            <a:blipFill>
              <a:blip r:embed="rId5"/>
              <a:stretch>
                <a:fillRect l="0" t="-9626" r="0" b="-9626"/>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064713" cy="10287000"/>
            <a:chOff x="0" y="0"/>
            <a:chExt cx="1860665" cy="2709333"/>
          </a:xfrm>
        </p:grpSpPr>
        <p:sp>
          <p:nvSpPr>
            <p:cNvPr name="Freeform 3" id="3"/>
            <p:cNvSpPr/>
            <p:nvPr/>
          </p:nvSpPr>
          <p:spPr>
            <a:xfrm flipH="false" flipV="false" rot="0">
              <a:off x="0" y="0"/>
              <a:ext cx="1860665" cy="2709333"/>
            </a:xfrm>
            <a:custGeom>
              <a:avLst/>
              <a:gdLst/>
              <a:ahLst/>
              <a:cxnLst/>
              <a:rect r="r" b="b" t="t" l="l"/>
              <a:pathLst>
                <a:path h="2709333" w="1860665">
                  <a:moveTo>
                    <a:pt x="0" y="0"/>
                  </a:moveTo>
                  <a:lnTo>
                    <a:pt x="1860665" y="0"/>
                  </a:lnTo>
                  <a:lnTo>
                    <a:pt x="1860665" y="2709333"/>
                  </a:lnTo>
                  <a:lnTo>
                    <a:pt x="0" y="2709333"/>
                  </a:lnTo>
                  <a:close/>
                </a:path>
              </a:pathLst>
            </a:custGeom>
            <a:solidFill>
              <a:srgbClr val="59B1C6"/>
            </a:solidFill>
          </p:spPr>
        </p:sp>
        <p:sp>
          <p:nvSpPr>
            <p:cNvPr name="TextBox 4" id="4"/>
            <p:cNvSpPr txBox="true"/>
            <p:nvPr/>
          </p:nvSpPr>
          <p:spPr>
            <a:xfrm>
              <a:off x="0" y="-66675"/>
              <a:ext cx="1860665" cy="2776008"/>
            </a:xfrm>
            <a:prstGeom prst="rect">
              <a:avLst/>
            </a:prstGeom>
          </p:spPr>
          <p:txBody>
            <a:bodyPr anchor="ctr" rtlCol="false" tIns="50800" lIns="50800" bIns="50800" rIns="50800"/>
            <a:lstStyle/>
            <a:p>
              <a:pPr algn="ctr">
                <a:lnSpc>
                  <a:spcPts val="2914"/>
                </a:lnSpc>
              </a:pPr>
            </a:p>
          </p:txBody>
        </p:sp>
      </p:grpSp>
      <p:sp>
        <p:nvSpPr>
          <p:cNvPr name="TextBox 5" id="5"/>
          <p:cNvSpPr txBox="true"/>
          <p:nvPr/>
        </p:nvSpPr>
        <p:spPr>
          <a:xfrm rot="0">
            <a:off x="7371994" y="942975"/>
            <a:ext cx="9887306" cy="2886129"/>
          </a:xfrm>
          <a:prstGeom prst="rect">
            <a:avLst/>
          </a:prstGeom>
        </p:spPr>
        <p:txBody>
          <a:bodyPr anchor="t" rtlCol="false" tIns="0" lIns="0" bIns="0" rIns="0">
            <a:spAutoFit/>
          </a:bodyPr>
          <a:lstStyle/>
          <a:p>
            <a:pPr algn="r" marL="0" indent="0" lvl="0">
              <a:lnSpc>
                <a:spcPts val="11040"/>
              </a:lnSpc>
              <a:spcBef>
                <a:spcPct val="0"/>
              </a:spcBef>
            </a:pPr>
            <a:r>
              <a:rPr lang="en-US" b="true" sz="9200">
                <a:solidFill>
                  <a:srgbClr val="5492B1"/>
                </a:solidFill>
                <a:latin typeface="Poppins Semi-Bold"/>
                <a:ea typeface="Poppins Semi-Bold"/>
                <a:cs typeface="Poppins Semi-Bold"/>
                <a:sym typeface="Poppins Semi-Bold"/>
              </a:rPr>
              <a:t>Dataset Overview</a:t>
            </a:r>
          </a:p>
        </p:txBody>
      </p:sp>
      <p:sp>
        <p:nvSpPr>
          <p:cNvPr name="TextBox 6" id="6"/>
          <p:cNvSpPr txBox="true"/>
          <p:nvPr/>
        </p:nvSpPr>
        <p:spPr>
          <a:xfrm rot="0">
            <a:off x="7609224" y="4371380"/>
            <a:ext cx="9650076" cy="3984135"/>
          </a:xfrm>
          <a:prstGeom prst="rect">
            <a:avLst/>
          </a:prstGeom>
        </p:spPr>
        <p:txBody>
          <a:bodyPr anchor="t" rtlCol="false" tIns="0" lIns="0" bIns="0" rIns="0">
            <a:spAutoFit/>
          </a:bodyPr>
          <a:lstStyle/>
          <a:p>
            <a:pPr algn="just" marL="547995" indent="-273998" lvl="1">
              <a:lnSpc>
                <a:spcPts val="3553"/>
              </a:lnSpc>
              <a:buFont typeface="Arial"/>
              <a:buChar char="•"/>
            </a:pPr>
            <a:r>
              <a:rPr lang="en-US" sz="2538">
                <a:solidFill>
                  <a:srgbClr val="000000"/>
                </a:solidFill>
                <a:latin typeface="Poppins"/>
                <a:ea typeface="Poppins"/>
                <a:cs typeface="Poppins"/>
                <a:sym typeface="Poppins"/>
              </a:rPr>
              <a:t>Dataset: Vehicle Insurance Fraud Detection (</a:t>
            </a:r>
            <a:r>
              <a:rPr lang="en-US" sz="2538" u="sng">
                <a:solidFill>
                  <a:srgbClr val="000000"/>
                </a:solidFill>
                <a:latin typeface="Poppins"/>
                <a:ea typeface="Poppins"/>
                <a:cs typeface="Poppins"/>
                <a:sym typeface="Poppins"/>
                <a:hlinkClick r:id="rId2" tooltip="https://www.kaggle.com/datasets/khusheekapoor/vehicle-insurance-fraud-detection"/>
              </a:rPr>
              <a:t>Kaggle</a:t>
            </a:r>
            <a:r>
              <a:rPr lang="en-US" sz="2538">
                <a:solidFill>
                  <a:srgbClr val="000000"/>
                </a:solidFill>
                <a:latin typeface="Poppins"/>
                <a:ea typeface="Poppins"/>
                <a:cs typeface="Poppins"/>
                <a:sym typeface="Poppins"/>
              </a:rPr>
              <a:t>)</a:t>
            </a:r>
          </a:p>
          <a:p>
            <a:pPr algn="just" marL="547995" indent="-273998" lvl="1">
              <a:lnSpc>
                <a:spcPts val="3553"/>
              </a:lnSpc>
              <a:buFont typeface="Arial"/>
              <a:buChar char="•"/>
            </a:pPr>
            <a:r>
              <a:rPr lang="en-US" sz="2538">
                <a:solidFill>
                  <a:srgbClr val="000000"/>
                </a:solidFill>
                <a:latin typeface="Poppins"/>
                <a:ea typeface="Poppins"/>
                <a:cs typeface="Poppins"/>
                <a:sym typeface="Poppins"/>
              </a:rPr>
              <a:t>Reference: Nature Scientific Reports (</a:t>
            </a:r>
            <a:r>
              <a:rPr lang="en-US" sz="2538" u="sng">
                <a:solidFill>
                  <a:srgbClr val="000000"/>
                </a:solidFill>
                <a:latin typeface="Poppins"/>
                <a:ea typeface="Poppins"/>
                <a:cs typeface="Poppins"/>
                <a:sym typeface="Poppins"/>
                <a:hlinkClick r:id="rId3" tooltip="https://www.nature.com/articles/s41598-025-25700-2?utm_source=chatgpt.com#Sec4"/>
              </a:rPr>
              <a:t>Paper</a:t>
            </a:r>
            <a:r>
              <a:rPr lang="en-US" sz="2538">
                <a:solidFill>
                  <a:srgbClr val="000000"/>
                </a:solidFill>
                <a:latin typeface="Poppins"/>
                <a:ea typeface="Poppins"/>
                <a:cs typeface="Poppins"/>
                <a:sym typeface="Poppins"/>
              </a:rPr>
              <a:t>)</a:t>
            </a:r>
          </a:p>
          <a:p>
            <a:pPr algn="just" marL="547995" indent="-273998" lvl="1">
              <a:lnSpc>
                <a:spcPts val="3553"/>
              </a:lnSpc>
              <a:buFont typeface="Arial"/>
              <a:buChar char="•"/>
            </a:pPr>
            <a:r>
              <a:rPr lang="en-US" sz="2538">
                <a:solidFill>
                  <a:srgbClr val="000000"/>
                </a:solidFill>
                <a:latin typeface="Poppins"/>
                <a:ea typeface="Poppins"/>
                <a:cs typeface="Poppins"/>
                <a:sym typeface="Poppins"/>
              </a:rPr>
              <a:t>Target: FraudFound (0 = Legitimate, 1 = Fraud)</a:t>
            </a:r>
          </a:p>
          <a:p>
            <a:pPr algn="just" marL="547995" indent="-273998" lvl="1">
              <a:lnSpc>
                <a:spcPts val="3553"/>
              </a:lnSpc>
              <a:buFont typeface="Arial"/>
              <a:buChar char="•"/>
            </a:pPr>
            <a:r>
              <a:rPr lang="en-US" sz="2538">
                <a:solidFill>
                  <a:srgbClr val="000000"/>
                </a:solidFill>
                <a:latin typeface="Poppins"/>
                <a:ea typeface="Poppins"/>
                <a:cs typeface="Poppins"/>
                <a:sym typeface="Poppins"/>
              </a:rPr>
              <a:t>Features (~30+): Policy, Claim, Driver, Vehicle, Accident info</a:t>
            </a:r>
          </a:p>
          <a:p>
            <a:pPr algn="just" marL="547995" indent="-273998" lvl="1">
              <a:lnSpc>
                <a:spcPts val="3553"/>
              </a:lnSpc>
              <a:buFont typeface="Arial"/>
              <a:buChar char="•"/>
            </a:pPr>
            <a:r>
              <a:rPr lang="en-US" sz="2538">
                <a:solidFill>
                  <a:srgbClr val="000000"/>
                </a:solidFill>
                <a:latin typeface="Poppins"/>
                <a:ea typeface="Poppins"/>
                <a:cs typeface="Poppins"/>
                <a:sym typeface="Poppins"/>
              </a:rPr>
              <a:t>Data Characteristics: Imbalanced, categorical + numerical</a:t>
            </a:r>
          </a:p>
          <a:p>
            <a:pPr algn="just" marL="547995" indent="-273998" lvl="1">
              <a:lnSpc>
                <a:spcPts val="3553"/>
              </a:lnSpc>
              <a:buFont typeface="Arial"/>
              <a:buChar char="•"/>
            </a:pPr>
            <a:r>
              <a:rPr lang="en-US" sz="2538">
                <a:solidFill>
                  <a:srgbClr val="000000"/>
                </a:solidFill>
                <a:latin typeface="Poppins"/>
                <a:ea typeface="Poppins"/>
                <a:cs typeface="Poppins"/>
                <a:sym typeface="Poppins"/>
              </a:rPr>
              <a:t>Use:</a:t>
            </a:r>
            <a:r>
              <a:rPr lang="en-US" sz="2538">
                <a:solidFill>
                  <a:srgbClr val="000000"/>
                </a:solidFill>
                <a:latin typeface="Poppins"/>
                <a:ea typeface="Poppins"/>
                <a:cs typeface="Poppins"/>
                <a:sym typeface="Poppins"/>
              </a:rPr>
              <a:t> Train sensitive fraud detection model for proactive claim scoring</a:t>
            </a:r>
          </a:p>
        </p:txBody>
      </p:sp>
      <p:sp>
        <p:nvSpPr>
          <p:cNvPr name="Freeform 7" id="7"/>
          <p:cNvSpPr/>
          <p:nvPr/>
        </p:nvSpPr>
        <p:spPr>
          <a:xfrm flipH="false" flipV="false" rot="0">
            <a:off x="14487780" y="5780054"/>
            <a:ext cx="3552570" cy="4266187"/>
          </a:xfrm>
          <a:custGeom>
            <a:avLst/>
            <a:gdLst/>
            <a:ahLst/>
            <a:cxnLst/>
            <a:rect r="r" b="b" t="t" l="l"/>
            <a:pathLst>
              <a:path h="4266187" w="3552570">
                <a:moveTo>
                  <a:pt x="0" y="0"/>
                </a:moveTo>
                <a:lnTo>
                  <a:pt x="3552570" y="0"/>
                </a:lnTo>
                <a:lnTo>
                  <a:pt x="3552570" y="4266186"/>
                </a:lnTo>
                <a:lnTo>
                  <a:pt x="0" y="4266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909171" y="4783171"/>
            <a:ext cx="5246370" cy="4475129"/>
            <a:chOff x="0" y="0"/>
            <a:chExt cx="812800" cy="693315"/>
          </a:xfrm>
        </p:grpSpPr>
        <p:sp>
          <p:nvSpPr>
            <p:cNvPr name="Freeform 9" id="9"/>
            <p:cNvSpPr/>
            <p:nvPr/>
          </p:nvSpPr>
          <p:spPr>
            <a:xfrm flipH="false" flipV="false" rot="0">
              <a:off x="0" y="0"/>
              <a:ext cx="812800" cy="693315"/>
            </a:xfrm>
            <a:custGeom>
              <a:avLst/>
              <a:gdLst/>
              <a:ahLst/>
              <a:cxnLst/>
              <a:rect r="r" b="b" t="t" l="l"/>
              <a:pathLst>
                <a:path h="693315" w="812800">
                  <a:moveTo>
                    <a:pt x="33940" y="0"/>
                  </a:moveTo>
                  <a:lnTo>
                    <a:pt x="778860" y="0"/>
                  </a:lnTo>
                  <a:cubicBezTo>
                    <a:pt x="797604" y="0"/>
                    <a:pt x="812800" y="15196"/>
                    <a:pt x="812800" y="33940"/>
                  </a:cubicBezTo>
                  <a:lnTo>
                    <a:pt x="812800" y="659374"/>
                  </a:lnTo>
                  <a:cubicBezTo>
                    <a:pt x="812800" y="678119"/>
                    <a:pt x="797604" y="693315"/>
                    <a:pt x="778860" y="693315"/>
                  </a:cubicBezTo>
                  <a:lnTo>
                    <a:pt x="33940" y="693315"/>
                  </a:lnTo>
                  <a:cubicBezTo>
                    <a:pt x="24939" y="693315"/>
                    <a:pt x="16306" y="689739"/>
                    <a:pt x="9941" y="683374"/>
                  </a:cubicBezTo>
                  <a:cubicBezTo>
                    <a:pt x="3576" y="677009"/>
                    <a:pt x="0" y="668376"/>
                    <a:pt x="0" y="659374"/>
                  </a:cubicBezTo>
                  <a:lnTo>
                    <a:pt x="0" y="33940"/>
                  </a:lnTo>
                  <a:cubicBezTo>
                    <a:pt x="0" y="15196"/>
                    <a:pt x="15196" y="0"/>
                    <a:pt x="33940" y="0"/>
                  </a:cubicBezTo>
                  <a:close/>
                </a:path>
              </a:pathLst>
            </a:custGeom>
            <a:blipFill>
              <a:blip r:embed="rId6"/>
              <a:stretch>
                <a:fillRect l="0" t="-8616" r="0" b="-8616"/>
              </a:stretch>
            </a:blipFill>
          </p:spPr>
        </p:sp>
      </p:grpSp>
      <p:grpSp>
        <p:nvGrpSpPr>
          <p:cNvPr name="Group 10" id="10"/>
          <p:cNvGrpSpPr/>
          <p:nvPr/>
        </p:nvGrpSpPr>
        <p:grpSpPr>
          <a:xfrm rot="0">
            <a:off x="909171" y="1028700"/>
            <a:ext cx="5246370" cy="2931065"/>
            <a:chOff x="0" y="0"/>
            <a:chExt cx="812800" cy="454099"/>
          </a:xfrm>
        </p:grpSpPr>
        <p:sp>
          <p:nvSpPr>
            <p:cNvPr name="Freeform 11" id="11"/>
            <p:cNvSpPr/>
            <p:nvPr/>
          </p:nvSpPr>
          <p:spPr>
            <a:xfrm flipH="false" flipV="false" rot="0">
              <a:off x="0" y="0"/>
              <a:ext cx="812800" cy="454099"/>
            </a:xfrm>
            <a:custGeom>
              <a:avLst/>
              <a:gdLst/>
              <a:ahLst/>
              <a:cxnLst/>
              <a:rect r="r" b="b" t="t" l="l"/>
              <a:pathLst>
                <a:path h="454099" w="812800">
                  <a:moveTo>
                    <a:pt x="33940" y="0"/>
                  </a:moveTo>
                  <a:lnTo>
                    <a:pt x="778860" y="0"/>
                  </a:lnTo>
                  <a:cubicBezTo>
                    <a:pt x="797604" y="0"/>
                    <a:pt x="812800" y="15196"/>
                    <a:pt x="812800" y="33940"/>
                  </a:cubicBezTo>
                  <a:lnTo>
                    <a:pt x="812800" y="420158"/>
                  </a:lnTo>
                  <a:cubicBezTo>
                    <a:pt x="812800" y="438903"/>
                    <a:pt x="797604" y="454099"/>
                    <a:pt x="778860" y="454099"/>
                  </a:cubicBezTo>
                  <a:lnTo>
                    <a:pt x="33940" y="454099"/>
                  </a:lnTo>
                  <a:cubicBezTo>
                    <a:pt x="15196" y="454099"/>
                    <a:pt x="0" y="438903"/>
                    <a:pt x="0" y="420158"/>
                  </a:cubicBezTo>
                  <a:lnTo>
                    <a:pt x="0" y="33940"/>
                  </a:lnTo>
                  <a:cubicBezTo>
                    <a:pt x="0" y="15196"/>
                    <a:pt x="15196" y="0"/>
                    <a:pt x="33940" y="0"/>
                  </a:cubicBezTo>
                  <a:close/>
                </a:path>
              </a:pathLst>
            </a:custGeom>
            <a:blipFill>
              <a:blip r:embed="rId7"/>
              <a:stretch>
                <a:fillRect l="0" t="-9626" r="0" b="-9626"/>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492B1"/>
        </a:solidFill>
      </p:bgPr>
    </p:bg>
    <p:spTree>
      <p:nvGrpSpPr>
        <p:cNvPr id="1" name=""/>
        <p:cNvGrpSpPr/>
        <p:nvPr/>
      </p:nvGrpSpPr>
      <p:grpSpPr>
        <a:xfrm>
          <a:off x="0" y="0"/>
          <a:ext cx="0" cy="0"/>
          <a:chOff x="0" y="0"/>
          <a:chExt cx="0" cy="0"/>
        </a:xfrm>
      </p:grpSpPr>
      <p:sp>
        <p:nvSpPr>
          <p:cNvPr name="Freeform 2" id="2"/>
          <p:cNvSpPr/>
          <p:nvPr/>
        </p:nvSpPr>
        <p:spPr>
          <a:xfrm flipH="false" flipV="false" rot="0">
            <a:off x="9964041" y="-437745"/>
            <a:ext cx="10403246" cy="3650594"/>
          </a:xfrm>
          <a:custGeom>
            <a:avLst/>
            <a:gdLst/>
            <a:ahLst/>
            <a:cxnLst/>
            <a:rect r="r" b="b" t="t" l="l"/>
            <a:pathLst>
              <a:path h="3650594" w="10403246">
                <a:moveTo>
                  <a:pt x="0" y="0"/>
                </a:moveTo>
                <a:lnTo>
                  <a:pt x="10403246" y="0"/>
                </a:lnTo>
                <a:lnTo>
                  <a:pt x="10403246" y="3650594"/>
                </a:lnTo>
                <a:lnTo>
                  <a:pt x="0" y="36505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74284" y="445620"/>
            <a:ext cx="9164823" cy="2197581"/>
          </a:xfrm>
          <a:prstGeom prst="rect">
            <a:avLst/>
          </a:prstGeom>
        </p:spPr>
        <p:txBody>
          <a:bodyPr anchor="t" rtlCol="false" tIns="0" lIns="0" bIns="0" rIns="0">
            <a:spAutoFit/>
          </a:bodyPr>
          <a:lstStyle/>
          <a:p>
            <a:pPr algn="l" marL="0" indent="0" lvl="0">
              <a:lnSpc>
                <a:spcPts val="8400"/>
              </a:lnSpc>
            </a:pPr>
            <a:r>
              <a:rPr lang="en-US" b="true" sz="7000">
                <a:solidFill>
                  <a:srgbClr val="FFFFFF"/>
                </a:solidFill>
                <a:latin typeface="Poppins Semi-Bold"/>
                <a:ea typeface="Poppins Semi-Bold"/>
                <a:cs typeface="Poppins Semi-Bold"/>
                <a:sym typeface="Poppins Semi-Bold"/>
              </a:rPr>
              <a:t>Data Preprocessing &amp; Improvements</a:t>
            </a:r>
          </a:p>
        </p:txBody>
      </p:sp>
      <p:sp>
        <p:nvSpPr>
          <p:cNvPr name="TextBox 4" id="4"/>
          <p:cNvSpPr txBox="true"/>
          <p:nvPr/>
        </p:nvSpPr>
        <p:spPr>
          <a:xfrm rot="0">
            <a:off x="1028700" y="2741386"/>
            <a:ext cx="12894158" cy="1297275"/>
          </a:xfrm>
          <a:prstGeom prst="rect">
            <a:avLst/>
          </a:prstGeom>
        </p:spPr>
        <p:txBody>
          <a:bodyPr anchor="t" rtlCol="false" tIns="0" lIns="0" bIns="0" rIns="0">
            <a:spAutoFit/>
          </a:bodyPr>
          <a:lstStyle/>
          <a:p>
            <a:pPr algn="l" marL="531364" indent="-265682" lvl="1">
              <a:lnSpc>
                <a:spcPts val="3445"/>
              </a:lnSpc>
              <a:buFont typeface="Arial"/>
              <a:buChar char="•"/>
            </a:pPr>
            <a:r>
              <a:rPr lang="en-US" sz="2461">
                <a:solidFill>
                  <a:srgbClr val="FFFFFF"/>
                </a:solidFill>
                <a:latin typeface="Poppins"/>
                <a:ea typeface="Poppins"/>
                <a:cs typeface="Poppins"/>
                <a:sym typeface="Poppins"/>
              </a:rPr>
              <a:t>Label Encoding for categorical features</a:t>
            </a:r>
          </a:p>
          <a:p>
            <a:pPr algn="l" marL="531364" indent="-265682" lvl="1">
              <a:lnSpc>
                <a:spcPts val="3445"/>
              </a:lnSpc>
              <a:buFont typeface="Arial"/>
              <a:buChar char="•"/>
            </a:pPr>
            <a:r>
              <a:rPr lang="en-US" sz="2461">
                <a:solidFill>
                  <a:srgbClr val="FFFFFF"/>
                </a:solidFill>
                <a:latin typeface="Poppins"/>
                <a:ea typeface="Poppins"/>
                <a:cs typeface="Poppins"/>
                <a:sym typeface="Poppins"/>
              </a:rPr>
              <a:t>StandardScaler for numerical features</a:t>
            </a:r>
          </a:p>
          <a:p>
            <a:pPr algn="l" marL="531364" indent="-265682" lvl="1">
              <a:lnSpc>
                <a:spcPts val="3445"/>
              </a:lnSpc>
              <a:buFont typeface="Arial"/>
              <a:buChar char="•"/>
            </a:pPr>
            <a:r>
              <a:rPr lang="en-US" sz="2461">
                <a:solidFill>
                  <a:srgbClr val="FFFFFF"/>
                </a:solidFill>
                <a:latin typeface="Poppins"/>
                <a:ea typeface="Poppins"/>
                <a:cs typeface="Poppins"/>
                <a:sym typeface="Poppins"/>
              </a:rPr>
              <a:t>Ensures consistent feature scale → faster, stable model learning</a:t>
            </a:r>
          </a:p>
        </p:txBody>
      </p:sp>
      <p:sp>
        <p:nvSpPr>
          <p:cNvPr name="Freeform 5" id="5"/>
          <p:cNvSpPr/>
          <p:nvPr/>
        </p:nvSpPr>
        <p:spPr>
          <a:xfrm flipH="false" flipV="false" rot="0">
            <a:off x="14487780" y="5780054"/>
            <a:ext cx="3552570" cy="4266187"/>
          </a:xfrm>
          <a:custGeom>
            <a:avLst/>
            <a:gdLst/>
            <a:ahLst/>
            <a:cxnLst/>
            <a:rect r="r" b="b" t="t" l="l"/>
            <a:pathLst>
              <a:path h="4266187" w="3552570">
                <a:moveTo>
                  <a:pt x="0" y="0"/>
                </a:moveTo>
                <a:lnTo>
                  <a:pt x="3552570" y="0"/>
                </a:lnTo>
                <a:lnTo>
                  <a:pt x="3552570" y="4266186"/>
                </a:lnTo>
                <a:lnTo>
                  <a:pt x="0" y="426618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1028700" y="4762561"/>
            <a:ext cx="4727996" cy="3316314"/>
            <a:chOff x="0" y="0"/>
            <a:chExt cx="812800" cy="570115"/>
          </a:xfrm>
        </p:grpSpPr>
        <p:sp>
          <p:nvSpPr>
            <p:cNvPr name="Freeform 7" id="7"/>
            <p:cNvSpPr/>
            <p:nvPr/>
          </p:nvSpPr>
          <p:spPr>
            <a:xfrm flipH="false" flipV="false" rot="0">
              <a:off x="0" y="0"/>
              <a:ext cx="812800" cy="570115"/>
            </a:xfrm>
            <a:custGeom>
              <a:avLst/>
              <a:gdLst/>
              <a:ahLst/>
              <a:cxnLst/>
              <a:rect r="r" b="b" t="t" l="l"/>
              <a:pathLst>
                <a:path h="570115" w="812800">
                  <a:moveTo>
                    <a:pt x="37662" y="0"/>
                  </a:moveTo>
                  <a:lnTo>
                    <a:pt x="775138" y="0"/>
                  </a:lnTo>
                  <a:cubicBezTo>
                    <a:pt x="795938" y="0"/>
                    <a:pt x="812800" y="16862"/>
                    <a:pt x="812800" y="37662"/>
                  </a:cubicBezTo>
                  <a:lnTo>
                    <a:pt x="812800" y="532453"/>
                  </a:lnTo>
                  <a:cubicBezTo>
                    <a:pt x="812800" y="553253"/>
                    <a:pt x="795938" y="570115"/>
                    <a:pt x="775138" y="570115"/>
                  </a:cubicBezTo>
                  <a:lnTo>
                    <a:pt x="37662" y="570115"/>
                  </a:lnTo>
                  <a:cubicBezTo>
                    <a:pt x="16862" y="570115"/>
                    <a:pt x="0" y="553253"/>
                    <a:pt x="0" y="532453"/>
                  </a:cubicBezTo>
                  <a:lnTo>
                    <a:pt x="0" y="37662"/>
                  </a:lnTo>
                  <a:cubicBezTo>
                    <a:pt x="0" y="16862"/>
                    <a:pt x="16862" y="0"/>
                    <a:pt x="37662" y="0"/>
                  </a:cubicBezTo>
                  <a:close/>
                </a:path>
              </a:pathLst>
            </a:custGeom>
            <a:blipFill>
              <a:blip r:embed="rId6"/>
              <a:stretch>
                <a:fillRect l="-2540" t="0" r="-2540" b="0"/>
              </a:stretch>
            </a:blipFill>
          </p:spPr>
        </p:sp>
      </p:grpSp>
      <p:grpSp>
        <p:nvGrpSpPr>
          <p:cNvPr name="Group 8" id="8"/>
          <p:cNvGrpSpPr/>
          <p:nvPr/>
        </p:nvGrpSpPr>
        <p:grpSpPr>
          <a:xfrm rot="0">
            <a:off x="6455810" y="4762561"/>
            <a:ext cx="4727996" cy="3316314"/>
            <a:chOff x="0" y="0"/>
            <a:chExt cx="812800" cy="570115"/>
          </a:xfrm>
        </p:grpSpPr>
        <p:sp>
          <p:nvSpPr>
            <p:cNvPr name="Freeform 9" id="9"/>
            <p:cNvSpPr/>
            <p:nvPr/>
          </p:nvSpPr>
          <p:spPr>
            <a:xfrm flipH="false" flipV="false" rot="0">
              <a:off x="0" y="0"/>
              <a:ext cx="812800" cy="570115"/>
            </a:xfrm>
            <a:custGeom>
              <a:avLst/>
              <a:gdLst/>
              <a:ahLst/>
              <a:cxnLst/>
              <a:rect r="r" b="b" t="t" l="l"/>
              <a:pathLst>
                <a:path h="570115" w="812800">
                  <a:moveTo>
                    <a:pt x="37662" y="0"/>
                  </a:moveTo>
                  <a:lnTo>
                    <a:pt x="775138" y="0"/>
                  </a:lnTo>
                  <a:cubicBezTo>
                    <a:pt x="795938" y="0"/>
                    <a:pt x="812800" y="16862"/>
                    <a:pt x="812800" y="37662"/>
                  </a:cubicBezTo>
                  <a:lnTo>
                    <a:pt x="812800" y="532453"/>
                  </a:lnTo>
                  <a:cubicBezTo>
                    <a:pt x="812800" y="553253"/>
                    <a:pt x="795938" y="570115"/>
                    <a:pt x="775138" y="570115"/>
                  </a:cubicBezTo>
                  <a:lnTo>
                    <a:pt x="37662" y="570115"/>
                  </a:lnTo>
                  <a:cubicBezTo>
                    <a:pt x="16862" y="570115"/>
                    <a:pt x="0" y="553253"/>
                    <a:pt x="0" y="532453"/>
                  </a:cubicBezTo>
                  <a:lnTo>
                    <a:pt x="0" y="37662"/>
                  </a:lnTo>
                  <a:cubicBezTo>
                    <a:pt x="0" y="16862"/>
                    <a:pt x="16862" y="0"/>
                    <a:pt x="37662" y="0"/>
                  </a:cubicBezTo>
                  <a:close/>
                </a:path>
              </a:pathLst>
            </a:custGeom>
            <a:blipFill>
              <a:blip r:embed="rId7"/>
              <a:stretch>
                <a:fillRect l="-2639" t="0" r="-2639"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755144" y="1200930"/>
            <a:ext cx="6504156" cy="2886129"/>
          </a:xfrm>
          <a:prstGeom prst="rect">
            <a:avLst/>
          </a:prstGeom>
        </p:spPr>
        <p:txBody>
          <a:bodyPr anchor="t" rtlCol="false" tIns="0" lIns="0" bIns="0" rIns="0">
            <a:spAutoFit/>
          </a:bodyPr>
          <a:lstStyle/>
          <a:p>
            <a:pPr algn="r" marL="0" indent="0" lvl="0">
              <a:lnSpc>
                <a:spcPts val="11040"/>
              </a:lnSpc>
              <a:spcBef>
                <a:spcPct val="0"/>
              </a:spcBef>
            </a:pPr>
            <a:r>
              <a:rPr lang="en-US" b="true" sz="9200">
                <a:solidFill>
                  <a:srgbClr val="5492B1"/>
                </a:solidFill>
                <a:latin typeface="Poppins Semi-Bold"/>
                <a:ea typeface="Poppins Semi-Bold"/>
                <a:cs typeface="Poppins Semi-Bold"/>
                <a:sym typeface="Poppins Semi-Bold"/>
              </a:rPr>
              <a:t>Han</a:t>
            </a:r>
            <a:r>
              <a:rPr lang="en-US" b="true" sz="9200" strike="noStrike" u="none">
                <a:solidFill>
                  <a:srgbClr val="5492B1"/>
                </a:solidFill>
                <a:latin typeface="Poppins Semi-Bold"/>
                <a:ea typeface="Poppins Semi-Bold"/>
                <a:cs typeface="Poppins Semi-Bold"/>
                <a:sym typeface="Poppins Semi-Bold"/>
              </a:rPr>
              <a:t>dling Imbala</a:t>
            </a:r>
            <a:r>
              <a:rPr lang="en-US" b="true" sz="9200" strike="noStrike" u="none">
                <a:solidFill>
                  <a:srgbClr val="5492B1"/>
                </a:solidFill>
                <a:latin typeface="Poppins Semi-Bold"/>
                <a:ea typeface="Poppins Semi-Bold"/>
                <a:cs typeface="Poppins Semi-Bold"/>
                <a:sym typeface="Poppins Semi-Bold"/>
              </a:rPr>
              <a:t>nce</a:t>
            </a:r>
          </a:p>
        </p:txBody>
      </p:sp>
      <p:sp>
        <p:nvSpPr>
          <p:cNvPr name="TextBox 3" id="3"/>
          <p:cNvSpPr txBox="true"/>
          <p:nvPr/>
        </p:nvSpPr>
        <p:spPr>
          <a:xfrm rot="0">
            <a:off x="4007896" y="5048250"/>
            <a:ext cx="13251404" cy="3591763"/>
          </a:xfrm>
          <a:prstGeom prst="rect">
            <a:avLst/>
          </a:prstGeom>
        </p:spPr>
        <p:txBody>
          <a:bodyPr anchor="t" rtlCol="false" tIns="0" lIns="0" bIns="0" rIns="0">
            <a:spAutoFit/>
          </a:bodyPr>
          <a:lstStyle/>
          <a:p>
            <a:pPr algn="just" marL="741572" indent="-370786" lvl="1">
              <a:lnSpc>
                <a:spcPts val="4808"/>
              </a:lnSpc>
              <a:buFont typeface="Arial"/>
              <a:buChar char="•"/>
            </a:pPr>
            <a:r>
              <a:rPr lang="en-US" sz="3434">
                <a:solidFill>
                  <a:srgbClr val="000000"/>
                </a:solidFill>
                <a:latin typeface="Poppins"/>
                <a:ea typeface="Poppins"/>
                <a:cs typeface="Poppins"/>
                <a:sym typeface="Poppins"/>
              </a:rPr>
              <a:t>Fraud cases under-represented → traditional models biased</a:t>
            </a:r>
          </a:p>
          <a:p>
            <a:pPr algn="just" marL="741572" indent="-370786" lvl="1">
              <a:lnSpc>
                <a:spcPts val="4808"/>
              </a:lnSpc>
              <a:buFont typeface="Arial"/>
              <a:buChar char="•"/>
            </a:pPr>
            <a:r>
              <a:rPr lang="en-US" sz="3434">
                <a:solidFill>
                  <a:srgbClr val="000000"/>
                </a:solidFill>
                <a:latin typeface="Poppins"/>
                <a:ea typeface="Poppins"/>
                <a:cs typeface="Poppins"/>
                <a:sym typeface="Poppins"/>
              </a:rPr>
              <a:t>Applied SMOTE to balance the dataset</a:t>
            </a:r>
          </a:p>
          <a:p>
            <a:pPr algn="just" marL="741572" indent="-370786" lvl="1">
              <a:lnSpc>
                <a:spcPts val="4808"/>
              </a:lnSpc>
              <a:buFont typeface="Arial"/>
              <a:buChar char="•"/>
            </a:pPr>
            <a:r>
              <a:rPr lang="en-US" sz="3434">
                <a:solidFill>
                  <a:srgbClr val="000000"/>
                </a:solidFill>
                <a:latin typeface="Poppins"/>
                <a:ea typeface="Poppins"/>
                <a:cs typeface="Poppins"/>
                <a:sym typeface="Poppins"/>
              </a:rPr>
              <a:t>Result:</a:t>
            </a:r>
          </a:p>
          <a:p>
            <a:pPr algn="just" marL="741572" indent="-370786" lvl="1">
              <a:lnSpc>
                <a:spcPts val="4808"/>
              </a:lnSpc>
              <a:buFont typeface="Arial"/>
              <a:buChar char="•"/>
            </a:pPr>
            <a:r>
              <a:rPr lang="en-US" sz="3434">
                <a:solidFill>
                  <a:srgbClr val="000000"/>
                </a:solidFill>
                <a:latin typeface="Poppins"/>
                <a:ea typeface="Poppins"/>
                <a:cs typeface="Poppins"/>
                <a:sym typeface="Poppins"/>
              </a:rPr>
              <a:t>Improved Recall for fraud cases</a:t>
            </a:r>
          </a:p>
          <a:p>
            <a:pPr algn="just" marL="741572" indent="-370786" lvl="1">
              <a:lnSpc>
                <a:spcPts val="4808"/>
              </a:lnSpc>
              <a:buFont typeface="Arial"/>
              <a:buChar char="•"/>
            </a:pPr>
            <a:r>
              <a:rPr lang="en-US" sz="3434">
                <a:solidFill>
                  <a:srgbClr val="000000"/>
                </a:solidFill>
                <a:latin typeface="Poppins"/>
                <a:ea typeface="Poppins"/>
                <a:cs typeface="Poppins"/>
                <a:sym typeface="Poppins"/>
              </a:rPr>
              <a:t>Reduced</a:t>
            </a:r>
            <a:r>
              <a:rPr lang="en-US" sz="3434">
                <a:solidFill>
                  <a:srgbClr val="000000"/>
                </a:solidFill>
                <a:latin typeface="Poppins"/>
                <a:ea typeface="Poppins"/>
                <a:cs typeface="Poppins"/>
                <a:sym typeface="Poppins"/>
              </a:rPr>
              <a:t> false negatives → proactive detection</a:t>
            </a:r>
          </a:p>
        </p:txBody>
      </p:sp>
      <p:sp>
        <p:nvSpPr>
          <p:cNvPr name="Freeform 4" id="4"/>
          <p:cNvSpPr/>
          <p:nvPr/>
        </p:nvSpPr>
        <p:spPr>
          <a:xfrm flipH="false" flipV="false" rot="0">
            <a:off x="14487780" y="5780054"/>
            <a:ext cx="3552570" cy="4266187"/>
          </a:xfrm>
          <a:custGeom>
            <a:avLst/>
            <a:gdLst/>
            <a:ahLst/>
            <a:cxnLst/>
            <a:rect r="r" b="b" t="t" l="l"/>
            <a:pathLst>
              <a:path h="4266187" w="3552570">
                <a:moveTo>
                  <a:pt x="0" y="0"/>
                </a:moveTo>
                <a:lnTo>
                  <a:pt x="3552570" y="0"/>
                </a:lnTo>
                <a:lnTo>
                  <a:pt x="3552570" y="4266186"/>
                </a:lnTo>
                <a:lnTo>
                  <a:pt x="0" y="42661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5400000">
            <a:off x="-3376326" y="3376326"/>
            <a:ext cx="10403246" cy="3650594"/>
          </a:xfrm>
          <a:custGeom>
            <a:avLst/>
            <a:gdLst/>
            <a:ahLst/>
            <a:cxnLst/>
            <a:rect r="r" b="b" t="t" l="l"/>
            <a:pathLst>
              <a:path h="3650594" w="10403246">
                <a:moveTo>
                  <a:pt x="0" y="3650594"/>
                </a:moveTo>
                <a:lnTo>
                  <a:pt x="10403246" y="3650594"/>
                </a:lnTo>
                <a:lnTo>
                  <a:pt x="10403246" y="0"/>
                </a:lnTo>
                <a:lnTo>
                  <a:pt x="0" y="0"/>
                </a:lnTo>
                <a:lnTo>
                  <a:pt x="0" y="3650594"/>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6" id="6"/>
          <p:cNvGrpSpPr/>
          <p:nvPr/>
        </p:nvGrpSpPr>
        <p:grpSpPr>
          <a:xfrm rot="0">
            <a:off x="4293193" y="1028700"/>
            <a:ext cx="3469480" cy="3316314"/>
            <a:chOff x="0" y="0"/>
            <a:chExt cx="596446" cy="570115"/>
          </a:xfrm>
        </p:grpSpPr>
        <p:sp>
          <p:nvSpPr>
            <p:cNvPr name="Freeform 7" id="7"/>
            <p:cNvSpPr/>
            <p:nvPr/>
          </p:nvSpPr>
          <p:spPr>
            <a:xfrm flipH="false" flipV="false" rot="0">
              <a:off x="0" y="0"/>
              <a:ext cx="596446" cy="570115"/>
            </a:xfrm>
            <a:custGeom>
              <a:avLst/>
              <a:gdLst/>
              <a:ahLst/>
              <a:cxnLst/>
              <a:rect r="r" b="b" t="t" l="l"/>
              <a:pathLst>
                <a:path h="570115" w="596446">
                  <a:moveTo>
                    <a:pt x="51323" y="0"/>
                  </a:moveTo>
                  <a:lnTo>
                    <a:pt x="545123" y="0"/>
                  </a:lnTo>
                  <a:cubicBezTo>
                    <a:pt x="573468" y="0"/>
                    <a:pt x="596446" y="22978"/>
                    <a:pt x="596446" y="51323"/>
                  </a:cubicBezTo>
                  <a:lnTo>
                    <a:pt x="596446" y="518792"/>
                  </a:lnTo>
                  <a:cubicBezTo>
                    <a:pt x="596446" y="532403"/>
                    <a:pt x="591039" y="545458"/>
                    <a:pt x="581414" y="555083"/>
                  </a:cubicBezTo>
                  <a:cubicBezTo>
                    <a:pt x="571789" y="564708"/>
                    <a:pt x="558735" y="570115"/>
                    <a:pt x="545123" y="570115"/>
                  </a:cubicBezTo>
                  <a:lnTo>
                    <a:pt x="51323" y="570115"/>
                  </a:lnTo>
                  <a:cubicBezTo>
                    <a:pt x="37711" y="570115"/>
                    <a:pt x="24657" y="564708"/>
                    <a:pt x="15032" y="555083"/>
                  </a:cubicBezTo>
                  <a:cubicBezTo>
                    <a:pt x="5407" y="545458"/>
                    <a:pt x="0" y="532403"/>
                    <a:pt x="0" y="518792"/>
                  </a:cubicBezTo>
                  <a:lnTo>
                    <a:pt x="0" y="51323"/>
                  </a:lnTo>
                  <a:cubicBezTo>
                    <a:pt x="0" y="37711"/>
                    <a:pt x="5407" y="24657"/>
                    <a:pt x="15032" y="15032"/>
                  </a:cubicBezTo>
                  <a:cubicBezTo>
                    <a:pt x="24657" y="5407"/>
                    <a:pt x="37711" y="0"/>
                    <a:pt x="51323" y="0"/>
                  </a:cubicBezTo>
                  <a:close/>
                </a:path>
              </a:pathLst>
            </a:custGeom>
            <a:blipFill>
              <a:blip r:embed="rId6"/>
              <a:stretch>
                <a:fillRect l="-21733" t="0" r="-21733"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696552"/>
            <a:ext cx="6986105" cy="3146883"/>
          </a:xfrm>
          <a:prstGeom prst="rect">
            <a:avLst/>
          </a:prstGeom>
        </p:spPr>
        <p:txBody>
          <a:bodyPr anchor="t" rtlCol="false" tIns="0" lIns="0" bIns="0" rIns="0">
            <a:spAutoFit/>
          </a:bodyPr>
          <a:lstStyle/>
          <a:p>
            <a:pPr algn="l" marL="0" indent="0" lvl="0">
              <a:lnSpc>
                <a:spcPts val="8095"/>
              </a:lnSpc>
              <a:spcBef>
                <a:spcPct val="0"/>
              </a:spcBef>
            </a:pPr>
            <a:r>
              <a:rPr lang="en-US" b="true" sz="6746">
                <a:solidFill>
                  <a:srgbClr val="5492B1"/>
                </a:solidFill>
                <a:latin typeface="Poppins Semi-Bold"/>
                <a:ea typeface="Poppins Semi-Bold"/>
                <a:cs typeface="Poppins Semi-Bold"/>
                <a:sym typeface="Poppins Semi-Bold"/>
              </a:rPr>
              <a:t>Feature Selection Enhancement</a:t>
            </a:r>
          </a:p>
        </p:txBody>
      </p:sp>
      <p:sp>
        <p:nvSpPr>
          <p:cNvPr name="Freeform 3" id="3"/>
          <p:cNvSpPr/>
          <p:nvPr/>
        </p:nvSpPr>
        <p:spPr>
          <a:xfrm flipH="true" flipV="false" rot="0">
            <a:off x="207960" y="5780054"/>
            <a:ext cx="3552570" cy="4266187"/>
          </a:xfrm>
          <a:custGeom>
            <a:avLst/>
            <a:gdLst/>
            <a:ahLst/>
            <a:cxnLst/>
            <a:rect r="r" b="b" t="t" l="l"/>
            <a:pathLst>
              <a:path h="4266187" w="3552570">
                <a:moveTo>
                  <a:pt x="3552570" y="0"/>
                </a:moveTo>
                <a:lnTo>
                  <a:pt x="0" y="0"/>
                </a:lnTo>
                <a:lnTo>
                  <a:pt x="0" y="4266186"/>
                </a:lnTo>
                <a:lnTo>
                  <a:pt x="3552570" y="4266186"/>
                </a:lnTo>
                <a:lnTo>
                  <a:pt x="35525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4013658"/>
            <a:ext cx="8964313" cy="5258993"/>
          </a:xfrm>
          <a:prstGeom prst="rect">
            <a:avLst/>
          </a:prstGeom>
        </p:spPr>
        <p:txBody>
          <a:bodyPr anchor="t" rtlCol="false" tIns="0" lIns="0" bIns="0" rIns="0">
            <a:spAutoFit/>
          </a:bodyPr>
          <a:lstStyle/>
          <a:p>
            <a:pPr algn="l" marL="650610" indent="-325305" lvl="1">
              <a:lnSpc>
                <a:spcPts val="4218"/>
              </a:lnSpc>
              <a:spcBef>
                <a:spcPct val="0"/>
              </a:spcBef>
              <a:buFont typeface="Arial"/>
              <a:buChar char="•"/>
            </a:pPr>
            <a:r>
              <a:rPr lang="en-US" sz="3013">
                <a:solidFill>
                  <a:srgbClr val="000000"/>
                </a:solidFill>
                <a:latin typeface="Poppins"/>
                <a:ea typeface="Poppins"/>
                <a:cs typeface="Poppins"/>
                <a:sym typeface="Poppins"/>
              </a:rPr>
              <a:t>O</a:t>
            </a:r>
            <a:r>
              <a:rPr lang="en-US" sz="3013" strike="noStrike" u="none">
                <a:solidFill>
                  <a:srgbClr val="000000"/>
                </a:solidFill>
                <a:latin typeface="Poppins"/>
                <a:ea typeface="Poppins"/>
                <a:cs typeface="Poppins"/>
                <a:sym typeface="Poppins"/>
              </a:rPr>
              <a:t>r</a:t>
            </a:r>
            <a:r>
              <a:rPr lang="en-US" sz="3013" strike="noStrike" u="none">
                <a:solidFill>
                  <a:srgbClr val="000000"/>
                </a:solidFill>
                <a:latin typeface="Poppins"/>
                <a:ea typeface="Poppins"/>
                <a:cs typeface="Poppins"/>
                <a:sym typeface="Poppins"/>
              </a:rPr>
              <a:t>ig</a:t>
            </a:r>
            <a:r>
              <a:rPr lang="en-US" sz="3013" strike="noStrike" u="none">
                <a:solidFill>
                  <a:srgbClr val="000000"/>
                </a:solidFill>
                <a:latin typeface="Poppins"/>
                <a:ea typeface="Poppins"/>
                <a:cs typeface="Poppins"/>
                <a:sym typeface="Poppins"/>
              </a:rPr>
              <a:t>inal g</a:t>
            </a:r>
            <a:r>
              <a:rPr lang="en-US" sz="3013" strike="noStrike" u="none">
                <a:solidFill>
                  <a:srgbClr val="000000"/>
                </a:solidFill>
                <a:latin typeface="Poppins"/>
                <a:ea typeface="Poppins"/>
                <a:cs typeface="Poppins"/>
                <a:sym typeface="Poppins"/>
              </a:rPr>
              <a:t>o</a:t>
            </a:r>
            <a:r>
              <a:rPr lang="en-US" sz="3013" strike="noStrike" u="none">
                <a:solidFill>
                  <a:srgbClr val="000000"/>
                </a:solidFill>
                <a:latin typeface="Poppins"/>
                <a:ea typeface="Poppins"/>
                <a:cs typeface="Poppins"/>
                <a:sym typeface="Poppins"/>
              </a:rPr>
              <a:t>al: </a:t>
            </a:r>
            <a:r>
              <a:rPr lang="en-US" sz="3013" strike="noStrike" u="none">
                <a:solidFill>
                  <a:srgbClr val="000000"/>
                </a:solidFill>
                <a:latin typeface="Poppins"/>
                <a:ea typeface="Poppins"/>
                <a:cs typeface="Poppins"/>
                <a:sym typeface="Poppins"/>
              </a:rPr>
              <a:t>r</a:t>
            </a:r>
            <a:r>
              <a:rPr lang="en-US" sz="3013" strike="noStrike" u="none">
                <a:solidFill>
                  <a:srgbClr val="000000"/>
                </a:solidFill>
                <a:latin typeface="Poppins"/>
                <a:ea typeface="Poppins"/>
                <a:cs typeface="Poppins"/>
                <a:sym typeface="Poppins"/>
              </a:rPr>
              <a:t>educe noise &amp; re</a:t>
            </a:r>
            <a:r>
              <a:rPr lang="en-US" sz="3013" strike="noStrike" u="none">
                <a:solidFill>
                  <a:srgbClr val="000000"/>
                </a:solidFill>
                <a:latin typeface="Poppins"/>
                <a:ea typeface="Poppins"/>
                <a:cs typeface="Poppins"/>
                <a:sym typeface="Poppins"/>
              </a:rPr>
              <a:t>dund</a:t>
            </a:r>
            <a:r>
              <a:rPr lang="en-US" sz="3013" strike="noStrike" u="none">
                <a:solidFill>
                  <a:srgbClr val="000000"/>
                </a:solidFill>
                <a:latin typeface="Poppins"/>
                <a:ea typeface="Poppins"/>
                <a:cs typeface="Poppins"/>
                <a:sym typeface="Poppins"/>
              </a:rPr>
              <a:t>anc</a:t>
            </a:r>
            <a:r>
              <a:rPr lang="en-US" sz="3013" strike="noStrike" u="none">
                <a:solidFill>
                  <a:srgbClr val="000000"/>
                </a:solidFill>
                <a:latin typeface="Poppins"/>
                <a:ea typeface="Poppins"/>
                <a:cs typeface="Poppins"/>
                <a:sym typeface="Poppins"/>
              </a:rPr>
              <a:t>y</a:t>
            </a:r>
            <a:r>
              <a:rPr lang="en-US" sz="3013" strike="noStrike" u="none">
                <a:solidFill>
                  <a:srgbClr val="000000"/>
                </a:solidFill>
                <a:latin typeface="Poppins"/>
                <a:ea typeface="Poppins"/>
                <a:cs typeface="Poppins"/>
                <a:sym typeface="Poppins"/>
              </a:rPr>
              <a:t> in</a:t>
            </a:r>
            <a:r>
              <a:rPr lang="en-US" sz="3013" strike="noStrike" u="none">
                <a:solidFill>
                  <a:srgbClr val="000000"/>
                </a:solidFill>
                <a:latin typeface="Poppins"/>
                <a:ea typeface="Poppins"/>
                <a:cs typeface="Poppins"/>
                <a:sym typeface="Poppins"/>
              </a:rPr>
              <a:t> h</a:t>
            </a:r>
            <a:r>
              <a:rPr lang="en-US" sz="3013" strike="noStrike" u="none">
                <a:solidFill>
                  <a:srgbClr val="000000"/>
                </a:solidFill>
                <a:latin typeface="Poppins"/>
                <a:ea typeface="Poppins"/>
                <a:cs typeface="Poppins"/>
                <a:sym typeface="Poppins"/>
              </a:rPr>
              <a:t>ig</a:t>
            </a:r>
            <a:r>
              <a:rPr lang="en-US" sz="3013" strike="noStrike" u="none">
                <a:solidFill>
                  <a:srgbClr val="000000"/>
                </a:solidFill>
                <a:latin typeface="Poppins"/>
                <a:ea typeface="Poppins"/>
                <a:cs typeface="Poppins"/>
                <a:sym typeface="Poppins"/>
              </a:rPr>
              <a:t>h-</a:t>
            </a:r>
            <a:r>
              <a:rPr lang="en-US" sz="3013" strike="noStrike" u="none">
                <a:solidFill>
                  <a:srgbClr val="000000"/>
                </a:solidFill>
                <a:latin typeface="Poppins"/>
                <a:ea typeface="Poppins"/>
                <a:cs typeface="Poppins"/>
                <a:sym typeface="Poppins"/>
              </a:rPr>
              <a:t>di</a:t>
            </a:r>
            <a:r>
              <a:rPr lang="en-US" sz="3013" strike="noStrike" u="none">
                <a:solidFill>
                  <a:srgbClr val="000000"/>
                </a:solidFill>
                <a:latin typeface="Poppins"/>
                <a:ea typeface="Poppins"/>
                <a:cs typeface="Poppins"/>
                <a:sym typeface="Poppins"/>
              </a:rPr>
              <a:t>m</a:t>
            </a:r>
            <a:r>
              <a:rPr lang="en-US" sz="3013" strike="noStrike" u="none">
                <a:solidFill>
                  <a:srgbClr val="000000"/>
                </a:solidFill>
                <a:latin typeface="Poppins"/>
                <a:ea typeface="Poppins"/>
                <a:cs typeface="Poppins"/>
                <a:sym typeface="Poppins"/>
              </a:rPr>
              <a:t>ens</a:t>
            </a:r>
            <a:r>
              <a:rPr lang="en-US" sz="3013" strike="noStrike" u="none">
                <a:solidFill>
                  <a:srgbClr val="000000"/>
                </a:solidFill>
                <a:latin typeface="Poppins"/>
                <a:ea typeface="Poppins"/>
                <a:cs typeface="Poppins"/>
                <a:sym typeface="Poppins"/>
              </a:rPr>
              <a:t>i</a:t>
            </a:r>
            <a:r>
              <a:rPr lang="en-US" sz="3013" strike="noStrike" u="none">
                <a:solidFill>
                  <a:srgbClr val="000000"/>
                </a:solidFill>
                <a:latin typeface="Poppins"/>
                <a:ea typeface="Poppins"/>
                <a:cs typeface="Poppins"/>
                <a:sym typeface="Poppins"/>
              </a:rPr>
              <a:t>onal data</a:t>
            </a:r>
          </a:p>
          <a:p>
            <a:pPr algn="l" marL="650610" indent="-325305" lvl="1">
              <a:lnSpc>
                <a:spcPts val="4218"/>
              </a:lnSpc>
              <a:spcBef>
                <a:spcPct val="0"/>
              </a:spcBef>
              <a:buFont typeface="Arial"/>
              <a:buChar char="•"/>
            </a:pPr>
            <a:r>
              <a:rPr lang="en-US" sz="3013" strike="noStrike" u="none">
                <a:solidFill>
                  <a:srgbClr val="000000"/>
                </a:solidFill>
                <a:latin typeface="Poppins"/>
                <a:ea typeface="Poppins"/>
                <a:cs typeface="Poppins"/>
                <a:sym typeface="Poppins"/>
              </a:rPr>
              <a:t>Intended me</a:t>
            </a:r>
            <a:r>
              <a:rPr lang="en-US" sz="3013" strike="noStrike" u="none">
                <a:solidFill>
                  <a:srgbClr val="000000"/>
                </a:solidFill>
                <a:latin typeface="Poppins"/>
                <a:ea typeface="Poppins"/>
                <a:cs typeface="Poppins"/>
                <a:sym typeface="Poppins"/>
              </a:rPr>
              <a:t>thod</a:t>
            </a:r>
            <a:r>
              <a:rPr lang="en-US" sz="3013" strike="noStrike" u="none">
                <a:solidFill>
                  <a:srgbClr val="000000"/>
                </a:solidFill>
                <a:latin typeface="Poppins"/>
                <a:ea typeface="Poppins"/>
                <a:cs typeface="Poppins"/>
                <a:sym typeface="Poppins"/>
              </a:rPr>
              <a:t>: </a:t>
            </a:r>
            <a:r>
              <a:rPr lang="en-US" sz="3013" strike="noStrike" u="none">
                <a:solidFill>
                  <a:srgbClr val="000000"/>
                </a:solidFill>
                <a:latin typeface="Poppins"/>
                <a:ea typeface="Poppins"/>
                <a:cs typeface="Poppins"/>
                <a:sym typeface="Poppins"/>
              </a:rPr>
              <a:t>PSO-b</a:t>
            </a:r>
            <a:r>
              <a:rPr lang="en-US" sz="3013" strike="noStrike" u="none">
                <a:solidFill>
                  <a:srgbClr val="000000"/>
                </a:solidFill>
                <a:latin typeface="Poppins"/>
                <a:ea typeface="Poppins"/>
                <a:cs typeface="Poppins"/>
                <a:sym typeface="Poppins"/>
              </a:rPr>
              <a:t>ased feat</a:t>
            </a:r>
            <a:r>
              <a:rPr lang="en-US" sz="3013" strike="noStrike" u="none">
                <a:solidFill>
                  <a:srgbClr val="000000"/>
                </a:solidFill>
                <a:latin typeface="Poppins"/>
                <a:ea typeface="Poppins"/>
                <a:cs typeface="Poppins"/>
                <a:sym typeface="Poppins"/>
              </a:rPr>
              <a:t>ure sel</a:t>
            </a:r>
            <a:r>
              <a:rPr lang="en-US" sz="3013" strike="noStrike" u="none">
                <a:solidFill>
                  <a:srgbClr val="000000"/>
                </a:solidFill>
                <a:latin typeface="Poppins"/>
                <a:ea typeface="Poppins"/>
                <a:cs typeface="Poppins"/>
                <a:sym typeface="Poppins"/>
              </a:rPr>
              <a:t>ection (PDFS-PSO)</a:t>
            </a:r>
          </a:p>
          <a:p>
            <a:pPr algn="l" marL="650610" indent="-325305" lvl="1">
              <a:lnSpc>
                <a:spcPts val="4218"/>
              </a:lnSpc>
              <a:spcBef>
                <a:spcPct val="0"/>
              </a:spcBef>
              <a:buFont typeface="Arial"/>
              <a:buChar char="•"/>
            </a:pPr>
            <a:r>
              <a:rPr lang="en-US" sz="3013" strike="noStrike" u="none">
                <a:solidFill>
                  <a:srgbClr val="000000"/>
                </a:solidFill>
                <a:latin typeface="Poppins"/>
                <a:ea typeface="Poppins"/>
                <a:cs typeface="Poppins"/>
                <a:sym typeface="Poppins"/>
              </a:rPr>
              <a:t>Actual appr</a:t>
            </a:r>
            <a:r>
              <a:rPr lang="en-US" sz="3013" strike="noStrike" u="none">
                <a:solidFill>
                  <a:srgbClr val="000000"/>
                </a:solidFill>
                <a:latin typeface="Poppins"/>
                <a:ea typeface="Poppins"/>
                <a:cs typeface="Poppins"/>
                <a:sym typeface="Poppins"/>
              </a:rPr>
              <a:t>o</a:t>
            </a:r>
            <a:r>
              <a:rPr lang="en-US" sz="3013" strike="noStrike" u="none">
                <a:solidFill>
                  <a:srgbClr val="000000"/>
                </a:solidFill>
                <a:latin typeface="Poppins"/>
                <a:ea typeface="Poppins"/>
                <a:cs typeface="Poppins"/>
                <a:sym typeface="Poppins"/>
              </a:rPr>
              <a:t>ac</a:t>
            </a:r>
            <a:r>
              <a:rPr lang="en-US" sz="3013" strike="noStrike" u="none">
                <a:solidFill>
                  <a:srgbClr val="000000"/>
                </a:solidFill>
                <a:latin typeface="Poppins"/>
                <a:ea typeface="Poppins"/>
                <a:cs typeface="Poppins"/>
                <a:sym typeface="Poppins"/>
              </a:rPr>
              <a:t>h</a:t>
            </a:r>
            <a:r>
              <a:rPr lang="en-US" sz="3013" strike="noStrike" u="none">
                <a:solidFill>
                  <a:srgbClr val="000000"/>
                </a:solidFill>
                <a:latin typeface="Poppins"/>
                <a:ea typeface="Poppins"/>
                <a:cs typeface="Poppins"/>
                <a:sym typeface="Poppins"/>
              </a:rPr>
              <a:t>: </a:t>
            </a:r>
            <a:r>
              <a:rPr lang="en-US" sz="3013" strike="noStrike" u="none">
                <a:solidFill>
                  <a:srgbClr val="000000"/>
                </a:solidFill>
                <a:latin typeface="Poppins"/>
                <a:ea typeface="Poppins"/>
                <a:cs typeface="Poppins"/>
                <a:sym typeface="Poppins"/>
              </a:rPr>
              <a:t>U</a:t>
            </a:r>
            <a:r>
              <a:rPr lang="en-US" sz="3013" strike="noStrike" u="none">
                <a:solidFill>
                  <a:srgbClr val="000000"/>
                </a:solidFill>
                <a:latin typeface="Poppins"/>
                <a:ea typeface="Poppins"/>
                <a:cs typeface="Poppins"/>
                <a:sym typeface="Poppins"/>
              </a:rPr>
              <a:t>sed feature set suggested in th</a:t>
            </a:r>
            <a:r>
              <a:rPr lang="en-US" sz="3013" strike="noStrike" u="none">
                <a:solidFill>
                  <a:srgbClr val="000000"/>
                </a:solidFill>
                <a:latin typeface="Poppins"/>
                <a:ea typeface="Poppins"/>
                <a:cs typeface="Poppins"/>
                <a:sym typeface="Poppins"/>
              </a:rPr>
              <a:t>e re</a:t>
            </a:r>
            <a:r>
              <a:rPr lang="en-US" sz="3013" strike="noStrike" u="none">
                <a:solidFill>
                  <a:srgbClr val="000000"/>
                </a:solidFill>
                <a:latin typeface="Poppins"/>
                <a:ea typeface="Poppins"/>
                <a:cs typeface="Poppins"/>
                <a:sym typeface="Poppins"/>
              </a:rPr>
              <a:t>s</a:t>
            </a:r>
            <a:r>
              <a:rPr lang="en-US" sz="3013" strike="noStrike" u="none">
                <a:solidFill>
                  <a:srgbClr val="000000"/>
                </a:solidFill>
                <a:latin typeface="Poppins"/>
                <a:ea typeface="Poppins"/>
                <a:cs typeface="Poppins"/>
                <a:sym typeface="Poppins"/>
              </a:rPr>
              <a:t>ea</a:t>
            </a:r>
            <a:r>
              <a:rPr lang="en-US" sz="3013" strike="noStrike" u="none">
                <a:solidFill>
                  <a:srgbClr val="000000"/>
                </a:solidFill>
                <a:latin typeface="Poppins"/>
                <a:ea typeface="Poppins"/>
                <a:cs typeface="Poppins"/>
                <a:sym typeface="Poppins"/>
              </a:rPr>
              <a:t>rch pap</a:t>
            </a:r>
            <a:r>
              <a:rPr lang="en-US" sz="3013" strike="noStrike" u="none">
                <a:solidFill>
                  <a:srgbClr val="000000"/>
                </a:solidFill>
                <a:latin typeface="Poppins"/>
                <a:ea typeface="Poppins"/>
                <a:cs typeface="Poppins"/>
                <a:sym typeface="Poppins"/>
              </a:rPr>
              <a:t>e</a:t>
            </a:r>
            <a:r>
              <a:rPr lang="en-US" sz="3013" strike="noStrike" u="none">
                <a:solidFill>
                  <a:srgbClr val="000000"/>
                </a:solidFill>
                <a:latin typeface="Poppins"/>
                <a:ea typeface="Poppins"/>
                <a:cs typeface="Poppins"/>
                <a:sym typeface="Poppins"/>
              </a:rPr>
              <a:t>r</a:t>
            </a:r>
            <a:r>
              <a:rPr lang="en-US" sz="3013" strike="noStrike" u="none">
                <a:solidFill>
                  <a:srgbClr val="000000"/>
                </a:solidFill>
                <a:latin typeface="Poppins"/>
                <a:ea typeface="Poppins"/>
                <a:cs typeface="Poppins"/>
                <a:sym typeface="Poppins"/>
              </a:rPr>
              <a:t> due </a:t>
            </a:r>
            <a:r>
              <a:rPr lang="en-US" sz="3013" strike="noStrike" u="none">
                <a:solidFill>
                  <a:srgbClr val="000000"/>
                </a:solidFill>
                <a:latin typeface="Poppins"/>
                <a:ea typeface="Poppins"/>
                <a:cs typeface="Poppins"/>
                <a:sym typeface="Poppins"/>
              </a:rPr>
              <a:t>t</a:t>
            </a:r>
            <a:r>
              <a:rPr lang="en-US" sz="3013" strike="noStrike" u="none">
                <a:solidFill>
                  <a:srgbClr val="000000"/>
                </a:solidFill>
                <a:latin typeface="Poppins"/>
                <a:ea typeface="Poppins"/>
                <a:cs typeface="Poppins"/>
                <a:sym typeface="Poppins"/>
              </a:rPr>
              <a:t>o l</a:t>
            </a:r>
            <a:r>
              <a:rPr lang="en-US" sz="3013" strike="noStrike" u="none">
                <a:solidFill>
                  <a:srgbClr val="000000"/>
                </a:solidFill>
                <a:latin typeface="Poppins"/>
                <a:ea typeface="Poppins"/>
                <a:cs typeface="Poppins"/>
                <a:sym typeface="Poppins"/>
              </a:rPr>
              <a:t>on</a:t>
            </a:r>
            <a:r>
              <a:rPr lang="en-US" sz="3013" strike="noStrike" u="none">
                <a:solidFill>
                  <a:srgbClr val="000000"/>
                </a:solidFill>
                <a:latin typeface="Poppins"/>
                <a:ea typeface="Poppins"/>
                <a:cs typeface="Poppins"/>
                <a:sym typeface="Poppins"/>
              </a:rPr>
              <a:t>g</a:t>
            </a:r>
            <a:r>
              <a:rPr lang="en-US" sz="3013" strike="noStrike" u="none">
                <a:solidFill>
                  <a:srgbClr val="000000"/>
                </a:solidFill>
                <a:latin typeface="Poppins"/>
                <a:ea typeface="Poppins"/>
                <a:cs typeface="Poppins"/>
                <a:sym typeface="Poppins"/>
              </a:rPr>
              <a:t> </a:t>
            </a:r>
            <a:r>
              <a:rPr lang="en-US" sz="3013" strike="noStrike" u="none">
                <a:solidFill>
                  <a:srgbClr val="000000"/>
                </a:solidFill>
                <a:latin typeface="Poppins"/>
                <a:ea typeface="Poppins"/>
                <a:cs typeface="Poppins"/>
                <a:sym typeface="Poppins"/>
              </a:rPr>
              <a:t>t</a:t>
            </a:r>
            <a:r>
              <a:rPr lang="en-US" sz="3013" strike="noStrike" u="none">
                <a:solidFill>
                  <a:srgbClr val="000000"/>
                </a:solidFill>
                <a:latin typeface="Poppins"/>
                <a:ea typeface="Poppins"/>
                <a:cs typeface="Poppins"/>
                <a:sym typeface="Poppins"/>
              </a:rPr>
              <a:t>r</a:t>
            </a:r>
            <a:r>
              <a:rPr lang="en-US" sz="3013" strike="noStrike" u="none">
                <a:solidFill>
                  <a:srgbClr val="000000"/>
                </a:solidFill>
                <a:latin typeface="Poppins"/>
                <a:ea typeface="Poppins"/>
                <a:cs typeface="Poppins"/>
                <a:sym typeface="Poppins"/>
              </a:rPr>
              <a:t>a</a:t>
            </a:r>
            <a:r>
              <a:rPr lang="en-US" sz="3013" strike="noStrike" u="none">
                <a:solidFill>
                  <a:srgbClr val="000000"/>
                </a:solidFill>
                <a:latin typeface="Poppins"/>
                <a:ea typeface="Poppins"/>
                <a:cs typeface="Poppins"/>
                <a:sym typeface="Poppins"/>
              </a:rPr>
              <a:t>i</a:t>
            </a:r>
            <a:r>
              <a:rPr lang="en-US" sz="3013" strike="noStrike" u="none">
                <a:solidFill>
                  <a:srgbClr val="000000"/>
                </a:solidFill>
                <a:latin typeface="Poppins"/>
                <a:ea typeface="Poppins"/>
                <a:cs typeface="Poppins"/>
                <a:sym typeface="Poppins"/>
              </a:rPr>
              <a:t>n</a:t>
            </a:r>
            <a:r>
              <a:rPr lang="en-US" sz="3013" strike="noStrike" u="none">
                <a:solidFill>
                  <a:srgbClr val="000000"/>
                </a:solidFill>
                <a:latin typeface="Poppins"/>
                <a:ea typeface="Poppins"/>
                <a:cs typeface="Poppins"/>
                <a:sym typeface="Poppins"/>
              </a:rPr>
              <a:t>ing ti</a:t>
            </a:r>
            <a:r>
              <a:rPr lang="en-US" sz="3013" strike="noStrike" u="none">
                <a:solidFill>
                  <a:srgbClr val="000000"/>
                </a:solidFill>
                <a:latin typeface="Poppins"/>
                <a:ea typeface="Poppins"/>
                <a:cs typeface="Poppins"/>
                <a:sym typeface="Poppins"/>
              </a:rPr>
              <a:t>m</a:t>
            </a:r>
            <a:r>
              <a:rPr lang="en-US" sz="3013" strike="noStrike" u="none">
                <a:solidFill>
                  <a:srgbClr val="000000"/>
                </a:solidFill>
                <a:latin typeface="Poppins"/>
                <a:ea typeface="Poppins"/>
                <a:cs typeface="Poppins"/>
                <a:sym typeface="Poppins"/>
              </a:rPr>
              <a:t>es</a:t>
            </a:r>
          </a:p>
          <a:p>
            <a:pPr algn="l" marL="650610" indent="-325305" lvl="1">
              <a:lnSpc>
                <a:spcPts val="4218"/>
              </a:lnSpc>
              <a:spcBef>
                <a:spcPct val="0"/>
              </a:spcBef>
              <a:buFont typeface="Arial"/>
              <a:buChar char="•"/>
            </a:pPr>
            <a:r>
              <a:rPr lang="en-US" sz="3013" strike="noStrike" u="none">
                <a:solidFill>
                  <a:srgbClr val="000000"/>
                </a:solidFill>
                <a:latin typeface="Poppins"/>
                <a:ea typeface="Poppins"/>
                <a:cs typeface="Poppins"/>
                <a:sym typeface="Poppins"/>
              </a:rPr>
              <a:t>Ou</a:t>
            </a:r>
            <a:r>
              <a:rPr lang="en-US" sz="3013" strike="noStrike" u="none">
                <a:solidFill>
                  <a:srgbClr val="000000"/>
                </a:solidFill>
                <a:latin typeface="Poppins"/>
                <a:ea typeface="Poppins"/>
                <a:cs typeface="Poppins"/>
                <a:sym typeface="Poppins"/>
              </a:rPr>
              <a:t>t</a:t>
            </a:r>
            <a:r>
              <a:rPr lang="en-US" sz="3013" strike="noStrike" u="none">
                <a:solidFill>
                  <a:srgbClr val="000000"/>
                </a:solidFill>
                <a:latin typeface="Poppins"/>
                <a:ea typeface="Poppins"/>
                <a:cs typeface="Poppins"/>
                <a:sym typeface="Poppins"/>
              </a:rPr>
              <a:t>co</a:t>
            </a:r>
            <a:r>
              <a:rPr lang="en-US" sz="3013" strike="noStrike" u="none">
                <a:solidFill>
                  <a:srgbClr val="000000"/>
                </a:solidFill>
                <a:latin typeface="Poppins"/>
                <a:ea typeface="Poppins"/>
                <a:cs typeface="Poppins"/>
                <a:sym typeface="Poppins"/>
              </a:rPr>
              <a:t>me: </a:t>
            </a:r>
            <a:r>
              <a:rPr lang="en-US" sz="3013" strike="noStrike" u="none">
                <a:solidFill>
                  <a:srgbClr val="000000"/>
                </a:solidFill>
                <a:latin typeface="Poppins"/>
                <a:ea typeface="Poppins"/>
                <a:cs typeface="Poppins"/>
                <a:sym typeface="Poppins"/>
              </a:rPr>
              <a:t>Focused, infor</a:t>
            </a:r>
            <a:r>
              <a:rPr lang="en-US" sz="3013" strike="noStrike" u="none">
                <a:solidFill>
                  <a:srgbClr val="000000"/>
                </a:solidFill>
                <a:latin typeface="Poppins"/>
                <a:ea typeface="Poppins"/>
                <a:cs typeface="Poppins"/>
                <a:sym typeface="Poppins"/>
              </a:rPr>
              <a:t>mative </a:t>
            </a:r>
            <a:r>
              <a:rPr lang="en-US" sz="3013" strike="noStrike" u="none">
                <a:solidFill>
                  <a:srgbClr val="000000"/>
                </a:solidFill>
                <a:latin typeface="Poppins"/>
                <a:ea typeface="Poppins"/>
                <a:cs typeface="Poppins"/>
                <a:sym typeface="Poppins"/>
              </a:rPr>
              <a:t>featu</a:t>
            </a:r>
            <a:r>
              <a:rPr lang="en-US" sz="3013" strike="noStrike" u="none">
                <a:solidFill>
                  <a:srgbClr val="000000"/>
                </a:solidFill>
                <a:latin typeface="Poppins"/>
                <a:ea typeface="Poppins"/>
                <a:cs typeface="Poppins"/>
                <a:sym typeface="Poppins"/>
              </a:rPr>
              <a:t>re</a:t>
            </a:r>
            <a:r>
              <a:rPr lang="en-US" sz="3013" strike="noStrike" u="none">
                <a:solidFill>
                  <a:srgbClr val="000000"/>
                </a:solidFill>
                <a:latin typeface="Poppins"/>
                <a:ea typeface="Poppins"/>
                <a:cs typeface="Poppins"/>
                <a:sym typeface="Poppins"/>
              </a:rPr>
              <a:t>s f</a:t>
            </a:r>
            <a:r>
              <a:rPr lang="en-US" sz="3013" strike="noStrike" u="none">
                <a:solidFill>
                  <a:srgbClr val="000000"/>
                </a:solidFill>
                <a:latin typeface="Poppins"/>
                <a:ea typeface="Poppins"/>
                <a:cs typeface="Poppins"/>
                <a:sym typeface="Poppins"/>
              </a:rPr>
              <a:t>o</a:t>
            </a:r>
            <a:r>
              <a:rPr lang="en-US" sz="3013" strike="noStrike" u="none">
                <a:solidFill>
                  <a:srgbClr val="000000"/>
                </a:solidFill>
                <a:latin typeface="Poppins"/>
                <a:ea typeface="Poppins"/>
                <a:cs typeface="Poppins"/>
                <a:sym typeface="Poppins"/>
              </a:rPr>
              <a:t>r r</a:t>
            </a:r>
            <a:r>
              <a:rPr lang="en-US" sz="3013" strike="noStrike" u="none">
                <a:solidFill>
                  <a:srgbClr val="000000"/>
                </a:solidFill>
                <a:latin typeface="Poppins"/>
                <a:ea typeface="Poppins"/>
                <a:cs typeface="Poppins"/>
                <a:sym typeface="Poppins"/>
              </a:rPr>
              <a:t>ea</a:t>
            </a:r>
            <a:r>
              <a:rPr lang="en-US" sz="3013" strike="noStrike" u="none">
                <a:solidFill>
                  <a:srgbClr val="000000"/>
                </a:solidFill>
                <a:latin typeface="Poppins"/>
                <a:ea typeface="Poppins"/>
                <a:cs typeface="Poppins"/>
                <a:sym typeface="Poppins"/>
              </a:rPr>
              <a:t>l-</a:t>
            </a:r>
            <a:r>
              <a:rPr lang="en-US" sz="3013" strike="noStrike" u="none">
                <a:solidFill>
                  <a:srgbClr val="000000"/>
                </a:solidFill>
                <a:latin typeface="Poppins"/>
                <a:ea typeface="Poppins"/>
                <a:cs typeface="Poppins"/>
                <a:sym typeface="Poppins"/>
              </a:rPr>
              <a:t>time claim scoring</a:t>
            </a:r>
          </a:p>
          <a:p>
            <a:pPr algn="l" marL="0" indent="0" lvl="0">
              <a:lnSpc>
                <a:spcPts val="4218"/>
              </a:lnSpc>
              <a:spcBef>
                <a:spcPct val="0"/>
              </a:spcBef>
            </a:pPr>
          </a:p>
        </p:txBody>
      </p:sp>
      <p:grpSp>
        <p:nvGrpSpPr>
          <p:cNvPr name="Group 5" id="5"/>
          <p:cNvGrpSpPr/>
          <p:nvPr/>
        </p:nvGrpSpPr>
        <p:grpSpPr>
          <a:xfrm rot="0">
            <a:off x="11223287" y="0"/>
            <a:ext cx="7064713" cy="10287000"/>
            <a:chOff x="0" y="0"/>
            <a:chExt cx="1860665" cy="2709333"/>
          </a:xfrm>
        </p:grpSpPr>
        <p:sp>
          <p:nvSpPr>
            <p:cNvPr name="Freeform 6" id="6"/>
            <p:cNvSpPr/>
            <p:nvPr/>
          </p:nvSpPr>
          <p:spPr>
            <a:xfrm flipH="false" flipV="false" rot="0">
              <a:off x="0" y="0"/>
              <a:ext cx="1860665" cy="2709333"/>
            </a:xfrm>
            <a:custGeom>
              <a:avLst/>
              <a:gdLst/>
              <a:ahLst/>
              <a:cxnLst/>
              <a:rect r="r" b="b" t="t" l="l"/>
              <a:pathLst>
                <a:path h="2709333" w="1860665">
                  <a:moveTo>
                    <a:pt x="0" y="0"/>
                  </a:moveTo>
                  <a:lnTo>
                    <a:pt x="1860665" y="0"/>
                  </a:lnTo>
                  <a:lnTo>
                    <a:pt x="1860665" y="2709333"/>
                  </a:lnTo>
                  <a:lnTo>
                    <a:pt x="0" y="2709333"/>
                  </a:lnTo>
                  <a:close/>
                </a:path>
              </a:pathLst>
            </a:custGeom>
            <a:solidFill>
              <a:srgbClr val="59B1C6"/>
            </a:solidFill>
          </p:spPr>
        </p:sp>
        <p:sp>
          <p:nvSpPr>
            <p:cNvPr name="TextBox 7" id="7"/>
            <p:cNvSpPr txBox="true"/>
            <p:nvPr/>
          </p:nvSpPr>
          <p:spPr>
            <a:xfrm>
              <a:off x="0" y="-66675"/>
              <a:ext cx="1860665" cy="2776008"/>
            </a:xfrm>
            <a:prstGeom prst="rect">
              <a:avLst/>
            </a:prstGeom>
          </p:spPr>
          <p:txBody>
            <a:bodyPr anchor="ctr" rtlCol="false" tIns="50800" lIns="50800" bIns="50800" rIns="50800"/>
            <a:lstStyle/>
            <a:p>
              <a:pPr algn="ctr">
                <a:lnSpc>
                  <a:spcPts val="2914"/>
                </a:lnSpc>
              </a:pPr>
            </a:p>
          </p:txBody>
        </p:sp>
      </p:grpSp>
      <p:grpSp>
        <p:nvGrpSpPr>
          <p:cNvPr name="Group 8" id="8"/>
          <p:cNvGrpSpPr/>
          <p:nvPr/>
        </p:nvGrpSpPr>
        <p:grpSpPr>
          <a:xfrm rot="0">
            <a:off x="12132459" y="1028700"/>
            <a:ext cx="5246370" cy="4475129"/>
            <a:chOff x="0" y="0"/>
            <a:chExt cx="812800" cy="693315"/>
          </a:xfrm>
        </p:grpSpPr>
        <p:sp>
          <p:nvSpPr>
            <p:cNvPr name="Freeform 9" id="9"/>
            <p:cNvSpPr/>
            <p:nvPr/>
          </p:nvSpPr>
          <p:spPr>
            <a:xfrm flipH="false" flipV="false" rot="0">
              <a:off x="0" y="0"/>
              <a:ext cx="812800" cy="693315"/>
            </a:xfrm>
            <a:custGeom>
              <a:avLst/>
              <a:gdLst/>
              <a:ahLst/>
              <a:cxnLst/>
              <a:rect r="r" b="b" t="t" l="l"/>
              <a:pathLst>
                <a:path h="693315" w="812800">
                  <a:moveTo>
                    <a:pt x="33940" y="0"/>
                  </a:moveTo>
                  <a:lnTo>
                    <a:pt x="778860" y="0"/>
                  </a:lnTo>
                  <a:cubicBezTo>
                    <a:pt x="797604" y="0"/>
                    <a:pt x="812800" y="15196"/>
                    <a:pt x="812800" y="33940"/>
                  </a:cubicBezTo>
                  <a:lnTo>
                    <a:pt x="812800" y="659374"/>
                  </a:lnTo>
                  <a:cubicBezTo>
                    <a:pt x="812800" y="678119"/>
                    <a:pt x="797604" y="693315"/>
                    <a:pt x="778860" y="693315"/>
                  </a:cubicBezTo>
                  <a:lnTo>
                    <a:pt x="33940" y="693315"/>
                  </a:lnTo>
                  <a:cubicBezTo>
                    <a:pt x="24939" y="693315"/>
                    <a:pt x="16306" y="689739"/>
                    <a:pt x="9941" y="683374"/>
                  </a:cubicBezTo>
                  <a:cubicBezTo>
                    <a:pt x="3576" y="677009"/>
                    <a:pt x="0" y="668376"/>
                    <a:pt x="0" y="659374"/>
                  </a:cubicBezTo>
                  <a:lnTo>
                    <a:pt x="0" y="33940"/>
                  </a:lnTo>
                  <a:cubicBezTo>
                    <a:pt x="0" y="15196"/>
                    <a:pt x="15196" y="0"/>
                    <a:pt x="33940" y="0"/>
                  </a:cubicBezTo>
                  <a:close/>
                </a:path>
              </a:pathLst>
            </a:custGeom>
            <a:blipFill>
              <a:blip r:embed="rId4"/>
              <a:stretch>
                <a:fillRect l="-35728" t="0" r="-35728" b="0"/>
              </a:stretch>
            </a:blipFill>
          </p:spPr>
        </p:sp>
      </p:grpSp>
      <p:grpSp>
        <p:nvGrpSpPr>
          <p:cNvPr name="Group 10" id="10"/>
          <p:cNvGrpSpPr/>
          <p:nvPr/>
        </p:nvGrpSpPr>
        <p:grpSpPr>
          <a:xfrm rot="0">
            <a:off x="12132459" y="6327235"/>
            <a:ext cx="5246370" cy="2931065"/>
            <a:chOff x="0" y="0"/>
            <a:chExt cx="812800" cy="454099"/>
          </a:xfrm>
        </p:grpSpPr>
        <p:sp>
          <p:nvSpPr>
            <p:cNvPr name="Freeform 11" id="11"/>
            <p:cNvSpPr/>
            <p:nvPr/>
          </p:nvSpPr>
          <p:spPr>
            <a:xfrm flipH="false" flipV="false" rot="0">
              <a:off x="0" y="0"/>
              <a:ext cx="812800" cy="454099"/>
            </a:xfrm>
            <a:custGeom>
              <a:avLst/>
              <a:gdLst/>
              <a:ahLst/>
              <a:cxnLst/>
              <a:rect r="r" b="b" t="t" l="l"/>
              <a:pathLst>
                <a:path h="454099" w="812800">
                  <a:moveTo>
                    <a:pt x="33940" y="0"/>
                  </a:moveTo>
                  <a:lnTo>
                    <a:pt x="778860" y="0"/>
                  </a:lnTo>
                  <a:cubicBezTo>
                    <a:pt x="797604" y="0"/>
                    <a:pt x="812800" y="15196"/>
                    <a:pt x="812800" y="33940"/>
                  </a:cubicBezTo>
                  <a:lnTo>
                    <a:pt x="812800" y="420158"/>
                  </a:lnTo>
                  <a:cubicBezTo>
                    <a:pt x="812800" y="438903"/>
                    <a:pt x="797604" y="454099"/>
                    <a:pt x="778860" y="454099"/>
                  </a:cubicBezTo>
                  <a:lnTo>
                    <a:pt x="33940" y="454099"/>
                  </a:lnTo>
                  <a:cubicBezTo>
                    <a:pt x="15196" y="454099"/>
                    <a:pt x="0" y="438903"/>
                    <a:pt x="0" y="420158"/>
                  </a:cubicBezTo>
                  <a:lnTo>
                    <a:pt x="0" y="33940"/>
                  </a:lnTo>
                  <a:cubicBezTo>
                    <a:pt x="0" y="15196"/>
                    <a:pt x="15196" y="0"/>
                    <a:pt x="33940" y="0"/>
                  </a:cubicBezTo>
                  <a:close/>
                </a:path>
              </a:pathLst>
            </a:custGeom>
            <a:blipFill>
              <a:blip r:embed="rId5"/>
              <a:stretch>
                <a:fillRect l="0" t="-9626" r="0" b="-9626"/>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492B1"/>
        </a:solidFill>
      </p:bgPr>
    </p:bg>
    <p:spTree>
      <p:nvGrpSpPr>
        <p:cNvPr id="1" name=""/>
        <p:cNvGrpSpPr/>
        <p:nvPr/>
      </p:nvGrpSpPr>
      <p:grpSpPr>
        <a:xfrm>
          <a:off x="0" y="0"/>
          <a:ext cx="0" cy="0"/>
          <a:chOff x="0" y="0"/>
          <a:chExt cx="0" cy="0"/>
        </a:xfrm>
      </p:grpSpPr>
      <p:sp>
        <p:nvSpPr>
          <p:cNvPr name="TextBox 2" id="2"/>
          <p:cNvSpPr txBox="true"/>
          <p:nvPr/>
        </p:nvSpPr>
        <p:spPr>
          <a:xfrm rot="0">
            <a:off x="1028700" y="942975"/>
            <a:ext cx="12044270" cy="2886129"/>
          </a:xfrm>
          <a:prstGeom prst="rect">
            <a:avLst/>
          </a:prstGeom>
        </p:spPr>
        <p:txBody>
          <a:bodyPr anchor="t" rtlCol="false" tIns="0" lIns="0" bIns="0" rIns="0">
            <a:spAutoFit/>
          </a:bodyPr>
          <a:lstStyle/>
          <a:p>
            <a:pPr algn="l" marL="0" indent="0" lvl="0">
              <a:lnSpc>
                <a:spcPts val="11040"/>
              </a:lnSpc>
            </a:pPr>
            <a:r>
              <a:rPr lang="en-US" b="true" sz="9200">
                <a:solidFill>
                  <a:srgbClr val="FFFFFF"/>
                </a:solidFill>
                <a:latin typeface="Poppins Semi-Bold"/>
                <a:ea typeface="Poppins Semi-Bold"/>
                <a:cs typeface="Poppins Semi-Bold"/>
                <a:sym typeface="Poppins Semi-Bold"/>
              </a:rPr>
              <a:t>Model Training &amp; Selection</a:t>
            </a:r>
          </a:p>
        </p:txBody>
      </p:sp>
      <p:sp>
        <p:nvSpPr>
          <p:cNvPr name="TextBox 3" id="3"/>
          <p:cNvSpPr txBox="true"/>
          <p:nvPr/>
        </p:nvSpPr>
        <p:spPr>
          <a:xfrm rot="0">
            <a:off x="564123" y="4321311"/>
            <a:ext cx="10800093" cy="3225739"/>
          </a:xfrm>
          <a:prstGeom prst="rect">
            <a:avLst/>
          </a:prstGeom>
        </p:spPr>
        <p:txBody>
          <a:bodyPr anchor="t" rtlCol="false" tIns="0" lIns="0" bIns="0" rIns="0">
            <a:spAutoFit/>
          </a:bodyPr>
          <a:lstStyle/>
          <a:p>
            <a:pPr algn="just" marL="663942" indent="-331971" lvl="1">
              <a:lnSpc>
                <a:spcPts val="4305"/>
              </a:lnSpc>
              <a:buFont typeface="Arial"/>
              <a:buChar char="•"/>
            </a:pPr>
            <a:r>
              <a:rPr lang="en-US" sz="3075">
                <a:solidFill>
                  <a:srgbClr val="FFFFFF"/>
                </a:solidFill>
                <a:latin typeface="Poppins"/>
                <a:ea typeface="Poppins"/>
                <a:cs typeface="Poppins"/>
                <a:sym typeface="Poppins"/>
              </a:rPr>
              <a:t>Evaluated models: Logistic Regression, SVM, Random Forest, LightGBM</a:t>
            </a:r>
          </a:p>
          <a:p>
            <a:pPr algn="just" marL="663942" indent="-331971" lvl="1">
              <a:lnSpc>
                <a:spcPts val="4305"/>
              </a:lnSpc>
              <a:buFont typeface="Arial"/>
              <a:buChar char="•"/>
            </a:pPr>
            <a:r>
              <a:rPr lang="en-US" sz="3075">
                <a:solidFill>
                  <a:srgbClr val="FFFFFF"/>
                </a:solidFill>
                <a:latin typeface="Poppins"/>
                <a:ea typeface="Poppins"/>
                <a:cs typeface="Poppins"/>
                <a:sym typeface="Poppins"/>
              </a:rPr>
              <a:t>Stratified train-test split with balanced dataset</a:t>
            </a:r>
          </a:p>
          <a:p>
            <a:pPr algn="just" marL="663942" indent="-331971" lvl="1">
              <a:lnSpc>
                <a:spcPts val="4305"/>
              </a:lnSpc>
              <a:buFont typeface="Arial"/>
              <a:buChar char="•"/>
            </a:pPr>
            <a:r>
              <a:rPr lang="en-US" sz="3075">
                <a:solidFill>
                  <a:srgbClr val="FFFFFF"/>
                </a:solidFill>
                <a:latin typeface="Poppins"/>
                <a:ea typeface="Poppins"/>
                <a:cs typeface="Poppins"/>
                <a:sym typeface="Poppins"/>
              </a:rPr>
              <a:t>LightGBM achieved best balance:</a:t>
            </a:r>
          </a:p>
          <a:p>
            <a:pPr algn="just" marL="663942" indent="-331971" lvl="1">
              <a:lnSpc>
                <a:spcPts val="4305"/>
              </a:lnSpc>
              <a:buFont typeface="Arial"/>
              <a:buChar char="•"/>
            </a:pPr>
            <a:r>
              <a:rPr lang="en-US" sz="3075">
                <a:solidFill>
                  <a:srgbClr val="FFFFFF"/>
                </a:solidFill>
                <a:latin typeface="Poppins"/>
                <a:ea typeface="Poppins"/>
                <a:cs typeface="Poppins"/>
                <a:sym typeface="Poppins"/>
              </a:rPr>
              <a:t>High Recall → catch subtle fraud</a:t>
            </a:r>
          </a:p>
          <a:p>
            <a:pPr algn="just" marL="663942" indent="-331971" lvl="1">
              <a:lnSpc>
                <a:spcPts val="4305"/>
              </a:lnSpc>
              <a:buFont typeface="Arial"/>
              <a:buChar char="•"/>
            </a:pPr>
            <a:r>
              <a:rPr lang="en-US" sz="3075">
                <a:solidFill>
                  <a:srgbClr val="FFFFFF"/>
                </a:solidFill>
                <a:latin typeface="Poppins"/>
                <a:ea typeface="Poppins"/>
                <a:cs typeface="Poppins"/>
                <a:sym typeface="Poppins"/>
              </a:rPr>
              <a:t>Strong MCC and AUC → robust prediction</a:t>
            </a:r>
          </a:p>
        </p:txBody>
      </p:sp>
      <p:sp>
        <p:nvSpPr>
          <p:cNvPr name="Freeform 4" id="4"/>
          <p:cNvSpPr/>
          <p:nvPr/>
        </p:nvSpPr>
        <p:spPr>
          <a:xfrm flipH="true" flipV="false" rot="0">
            <a:off x="207960" y="5780054"/>
            <a:ext cx="3552570" cy="4266187"/>
          </a:xfrm>
          <a:custGeom>
            <a:avLst/>
            <a:gdLst/>
            <a:ahLst/>
            <a:cxnLst/>
            <a:rect r="r" b="b" t="t" l="l"/>
            <a:pathLst>
              <a:path h="4266187" w="3552570">
                <a:moveTo>
                  <a:pt x="3552570" y="0"/>
                </a:moveTo>
                <a:lnTo>
                  <a:pt x="0" y="0"/>
                </a:lnTo>
                <a:lnTo>
                  <a:pt x="0" y="4266186"/>
                </a:lnTo>
                <a:lnTo>
                  <a:pt x="3552570" y="4266186"/>
                </a:lnTo>
                <a:lnTo>
                  <a:pt x="355257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12196543" y="6254990"/>
            <a:ext cx="4727996" cy="3316314"/>
            <a:chOff x="0" y="0"/>
            <a:chExt cx="812800" cy="570115"/>
          </a:xfrm>
        </p:grpSpPr>
        <p:sp>
          <p:nvSpPr>
            <p:cNvPr name="Freeform 6" id="6"/>
            <p:cNvSpPr/>
            <p:nvPr/>
          </p:nvSpPr>
          <p:spPr>
            <a:xfrm flipH="false" flipV="false" rot="0">
              <a:off x="0" y="0"/>
              <a:ext cx="812800" cy="570115"/>
            </a:xfrm>
            <a:custGeom>
              <a:avLst/>
              <a:gdLst/>
              <a:ahLst/>
              <a:cxnLst/>
              <a:rect r="r" b="b" t="t" l="l"/>
              <a:pathLst>
                <a:path h="570115" w="812800">
                  <a:moveTo>
                    <a:pt x="37662" y="0"/>
                  </a:moveTo>
                  <a:lnTo>
                    <a:pt x="775138" y="0"/>
                  </a:lnTo>
                  <a:cubicBezTo>
                    <a:pt x="795938" y="0"/>
                    <a:pt x="812800" y="16862"/>
                    <a:pt x="812800" y="37662"/>
                  </a:cubicBezTo>
                  <a:lnTo>
                    <a:pt x="812800" y="532453"/>
                  </a:lnTo>
                  <a:cubicBezTo>
                    <a:pt x="812800" y="553253"/>
                    <a:pt x="795938" y="570115"/>
                    <a:pt x="775138" y="570115"/>
                  </a:cubicBezTo>
                  <a:lnTo>
                    <a:pt x="37662" y="570115"/>
                  </a:lnTo>
                  <a:cubicBezTo>
                    <a:pt x="16862" y="570115"/>
                    <a:pt x="0" y="553253"/>
                    <a:pt x="0" y="532453"/>
                  </a:cubicBezTo>
                  <a:lnTo>
                    <a:pt x="0" y="37662"/>
                  </a:lnTo>
                  <a:cubicBezTo>
                    <a:pt x="0" y="16862"/>
                    <a:pt x="16862" y="0"/>
                    <a:pt x="37662" y="0"/>
                  </a:cubicBezTo>
                  <a:close/>
                </a:path>
              </a:pathLst>
            </a:custGeom>
            <a:blipFill>
              <a:blip r:embed="rId4"/>
              <a:stretch>
                <a:fillRect l="-2639" t="0" r="-2639" b="0"/>
              </a:stretch>
            </a:blipFill>
          </p:spPr>
        </p:sp>
      </p:grpSp>
      <p:grpSp>
        <p:nvGrpSpPr>
          <p:cNvPr name="Group 7" id="7"/>
          <p:cNvGrpSpPr/>
          <p:nvPr/>
        </p:nvGrpSpPr>
        <p:grpSpPr>
          <a:xfrm rot="0">
            <a:off x="12196543" y="2428902"/>
            <a:ext cx="4727996" cy="3316314"/>
            <a:chOff x="0" y="0"/>
            <a:chExt cx="812800" cy="570115"/>
          </a:xfrm>
        </p:grpSpPr>
        <p:sp>
          <p:nvSpPr>
            <p:cNvPr name="Freeform 8" id="8"/>
            <p:cNvSpPr/>
            <p:nvPr/>
          </p:nvSpPr>
          <p:spPr>
            <a:xfrm flipH="false" flipV="false" rot="0">
              <a:off x="0" y="0"/>
              <a:ext cx="812800" cy="570115"/>
            </a:xfrm>
            <a:custGeom>
              <a:avLst/>
              <a:gdLst/>
              <a:ahLst/>
              <a:cxnLst/>
              <a:rect r="r" b="b" t="t" l="l"/>
              <a:pathLst>
                <a:path h="570115" w="812800">
                  <a:moveTo>
                    <a:pt x="37662" y="0"/>
                  </a:moveTo>
                  <a:lnTo>
                    <a:pt x="775138" y="0"/>
                  </a:lnTo>
                  <a:cubicBezTo>
                    <a:pt x="795938" y="0"/>
                    <a:pt x="812800" y="16862"/>
                    <a:pt x="812800" y="37662"/>
                  </a:cubicBezTo>
                  <a:lnTo>
                    <a:pt x="812800" y="532453"/>
                  </a:lnTo>
                  <a:cubicBezTo>
                    <a:pt x="812800" y="553253"/>
                    <a:pt x="795938" y="570115"/>
                    <a:pt x="775138" y="570115"/>
                  </a:cubicBezTo>
                  <a:lnTo>
                    <a:pt x="37662" y="570115"/>
                  </a:lnTo>
                  <a:cubicBezTo>
                    <a:pt x="16862" y="570115"/>
                    <a:pt x="0" y="553253"/>
                    <a:pt x="0" y="532453"/>
                  </a:cubicBezTo>
                  <a:lnTo>
                    <a:pt x="0" y="37662"/>
                  </a:lnTo>
                  <a:cubicBezTo>
                    <a:pt x="0" y="16862"/>
                    <a:pt x="16862" y="0"/>
                    <a:pt x="37662" y="0"/>
                  </a:cubicBezTo>
                  <a:close/>
                </a:path>
              </a:pathLst>
            </a:custGeom>
            <a:blipFill>
              <a:blip r:embed="rId5"/>
              <a:stretch>
                <a:fillRect l="-2639" t="0" r="-2639" b="0"/>
              </a:stretch>
            </a:blipFill>
          </p:spPr>
        </p:sp>
      </p:grpSp>
      <p:sp>
        <p:nvSpPr>
          <p:cNvPr name="Freeform 9" id="9"/>
          <p:cNvSpPr/>
          <p:nvPr/>
        </p:nvSpPr>
        <p:spPr>
          <a:xfrm flipH="false" flipV="false" rot="0">
            <a:off x="11364216" y="-437745"/>
            <a:ext cx="10403246" cy="3650594"/>
          </a:xfrm>
          <a:custGeom>
            <a:avLst/>
            <a:gdLst/>
            <a:ahLst/>
            <a:cxnLst/>
            <a:rect r="r" b="b" t="t" l="l"/>
            <a:pathLst>
              <a:path h="3650594" w="10403246">
                <a:moveTo>
                  <a:pt x="0" y="0"/>
                </a:moveTo>
                <a:lnTo>
                  <a:pt x="10403246" y="0"/>
                </a:lnTo>
                <a:lnTo>
                  <a:pt x="10403246" y="3650594"/>
                </a:lnTo>
                <a:lnTo>
                  <a:pt x="0" y="36505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4379944" y="295782"/>
            <a:ext cx="3552570" cy="4266187"/>
          </a:xfrm>
          <a:custGeom>
            <a:avLst/>
            <a:gdLst/>
            <a:ahLst/>
            <a:cxnLst/>
            <a:rect r="r" b="b" t="t" l="l"/>
            <a:pathLst>
              <a:path h="4266187" w="3552570">
                <a:moveTo>
                  <a:pt x="0" y="4266186"/>
                </a:moveTo>
                <a:lnTo>
                  <a:pt x="3552569" y="4266186"/>
                </a:lnTo>
                <a:lnTo>
                  <a:pt x="3552569" y="0"/>
                </a:lnTo>
                <a:lnTo>
                  <a:pt x="0" y="0"/>
                </a:lnTo>
                <a:lnTo>
                  <a:pt x="0" y="4266186"/>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90000" y="5421236"/>
            <a:ext cx="15308000" cy="3010000"/>
          </a:xfrm>
          <a:custGeom>
            <a:avLst/>
            <a:gdLst/>
            <a:ahLst/>
            <a:cxnLst/>
            <a:rect r="r" b="b" t="t" l="l"/>
            <a:pathLst>
              <a:path h="3010000" w="15308000">
                <a:moveTo>
                  <a:pt x="0" y="0"/>
                </a:moveTo>
                <a:lnTo>
                  <a:pt x="15308000" y="0"/>
                </a:lnTo>
                <a:lnTo>
                  <a:pt x="15308000" y="3010000"/>
                </a:lnTo>
                <a:lnTo>
                  <a:pt x="0" y="3010000"/>
                </a:lnTo>
                <a:lnTo>
                  <a:pt x="0" y="0"/>
                </a:lnTo>
                <a:close/>
              </a:path>
            </a:pathLst>
          </a:custGeom>
          <a:blipFill>
            <a:blip r:embed="rId4"/>
            <a:stretch>
              <a:fillRect l="0" t="0" r="0" b="0"/>
            </a:stretch>
          </a:blipFill>
        </p:spPr>
      </p:sp>
      <p:sp>
        <p:nvSpPr>
          <p:cNvPr name="TextBox 4" id="4"/>
          <p:cNvSpPr txBox="true"/>
          <p:nvPr/>
        </p:nvSpPr>
        <p:spPr>
          <a:xfrm rot="0">
            <a:off x="1028700" y="942975"/>
            <a:ext cx="12336100" cy="1485927"/>
          </a:xfrm>
          <a:prstGeom prst="rect">
            <a:avLst/>
          </a:prstGeom>
        </p:spPr>
        <p:txBody>
          <a:bodyPr anchor="t" rtlCol="false" tIns="0" lIns="0" bIns="0" rIns="0">
            <a:spAutoFit/>
          </a:bodyPr>
          <a:lstStyle/>
          <a:p>
            <a:pPr algn="l" marL="0" indent="0" lvl="0">
              <a:lnSpc>
                <a:spcPts val="11040"/>
              </a:lnSpc>
              <a:spcBef>
                <a:spcPct val="0"/>
              </a:spcBef>
            </a:pPr>
            <a:r>
              <a:rPr lang="en-US" b="true" sz="9200">
                <a:solidFill>
                  <a:srgbClr val="5492B1"/>
                </a:solidFill>
                <a:latin typeface="Poppins Semi-Bold"/>
                <a:ea typeface="Poppins Semi-Bold"/>
                <a:cs typeface="Poppins Semi-Bold"/>
                <a:sym typeface="Poppins Semi-Bold"/>
              </a:rPr>
              <a:t>Evaluation Metrics</a:t>
            </a:r>
          </a:p>
        </p:txBody>
      </p:sp>
      <p:sp>
        <p:nvSpPr>
          <p:cNvPr name="TextBox 5" id="5"/>
          <p:cNvSpPr txBox="true"/>
          <p:nvPr/>
        </p:nvSpPr>
        <p:spPr>
          <a:xfrm rot="0">
            <a:off x="1360541" y="2423862"/>
            <a:ext cx="13019403" cy="2509948"/>
          </a:xfrm>
          <a:prstGeom prst="rect">
            <a:avLst/>
          </a:prstGeom>
        </p:spPr>
        <p:txBody>
          <a:bodyPr anchor="t" rtlCol="false" tIns="0" lIns="0" bIns="0" rIns="0">
            <a:spAutoFit/>
          </a:bodyPr>
          <a:lstStyle/>
          <a:p>
            <a:pPr algn="l" marL="622691" indent="-311346" lvl="1">
              <a:lnSpc>
                <a:spcPts val="4037"/>
              </a:lnSpc>
              <a:spcBef>
                <a:spcPct val="0"/>
              </a:spcBef>
              <a:buFont typeface="Arial"/>
              <a:buChar char="•"/>
            </a:pPr>
            <a:r>
              <a:rPr lang="en-US" sz="2884">
                <a:solidFill>
                  <a:srgbClr val="000000"/>
                </a:solidFill>
                <a:latin typeface="Poppins"/>
                <a:ea typeface="Poppins"/>
                <a:cs typeface="Poppins"/>
                <a:sym typeface="Poppins"/>
              </a:rPr>
              <a:t>Accuracy: Overal</a:t>
            </a:r>
            <a:r>
              <a:rPr lang="en-US" sz="2884" strike="noStrike" u="none">
                <a:solidFill>
                  <a:srgbClr val="000000"/>
                </a:solidFill>
                <a:latin typeface="Poppins"/>
                <a:ea typeface="Poppins"/>
                <a:cs typeface="Poppins"/>
                <a:sym typeface="Poppins"/>
              </a:rPr>
              <a:t>l correctness</a:t>
            </a:r>
          </a:p>
          <a:p>
            <a:pPr algn="l" marL="622691" indent="-311346" lvl="1">
              <a:lnSpc>
                <a:spcPts val="4037"/>
              </a:lnSpc>
              <a:spcBef>
                <a:spcPct val="0"/>
              </a:spcBef>
              <a:buFont typeface="Arial"/>
              <a:buChar char="•"/>
            </a:pPr>
            <a:r>
              <a:rPr lang="en-US" sz="2884" strike="noStrike" u="none">
                <a:solidFill>
                  <a:srgbClr val="000000"/>
                </a:solidFill>
                <a:latin typeface="Poppins"/>
                <a:ea typeface="Poppins"/>
                <a:cs typeface="Poppins"/>
                <a:sym typeface="Poppins"/>
              </a:rPr>
              <a:t>Recall: Fraction of</a:t>
            </a:r>
            <a:r>
              <a:rPr lang="en-US" sz="2884" strike="noStrike" u="none">
                <a:solidFill>
                  <a:srgbClr val="000000"/>
                </a:solidFill>
                <a:latin typeface="Poppins"/>
                <a:ea typeface="Poppins"/>
                <a:cs typeface="Poppins"/>
                <a:sym typeface="Poppins"/>
              </a:rPr>
              <a:t> </a:t>
            </a:r>
            <a:r>
              <a:rPr lang="en-US" sz="2884" strike="noStrike" u="none">
                <a:solidFill>
                  <a:srgbClr val="000000"/>
                </a:solidFill>
                <a:latin typeface="Poppins"/>
                <a:ea typeface="Poppins"/>
                <a:cs typeface="Poppins"/>
                <a:sym typeface="Poppins"/>
              </a:rPr>
              <a:t>fraud dete</a:t>
            </a:r>
            <a:r>
              <a:rPr lang="en-US" sz="2884" strike="noStrike" u="none">
                <a:solidFill>
                  <a:srgbClr val="000000"/>
                </a:solidFill>
                <a:latin typeface="Poppins"/>
                <a:ea typeface="Poppins"/>
                <a:cs typeface="Poppins"/>
                <a:sym typeface="Poppins"/>
              </a:rPr>
              <a:t>ct</a:t>
            </a:r>
            <a:r>
              <a:rPr lang="en-US" sz="2884" strike="noStrike" u="none">
                <a:solidFill>
                  <a:srgbClr val="000000"/>
                </a:solidFill>
                <a:latin typeface="Poppins"/>
                <a:ea typeface="Poppins"/>
                <a:cs typeface="Poppins"/>
                <a:sym typeface="Poppins"/>
              </a:rPr>
              <a:t>e</a:t>
            </a:r>
            <a:r>
              <a:rPr lang="en-US" sz="2884" strike="noStrike" u="none">
                <a:solidFill>
                  <a:srgbClr val="000000"/>
                </a:solidFill>
                <a:latin typeface="Poppins"/>
                <a:ea typeface="Poppins"/>
                <a:cs typeface="Poppins"/>
                <a:sym typeface="Poppins"/>
              </a:rPr>
              <a:t>d</a:t>
            </a:r>
            <a:r>
              <a:rPr lang="en-US" sz="2884" strike="noStrike" u="none">
                <a:solidFill>
                  <a:srgbClr val="000000"/>
                </a:solidFill>
                <a:latin typeface="Poppins"/>
                <a:ea typeface="Poppins"/>
                <a:cs typeface="Poppins"/>
                <a:sym typeface="Poppins"/>
              </a:rPr>
              <a:t> (critical for pr</a:t>
            </a:r>
            <a:r>
              <a:rPr lang="en-US" sz="2884" strike="noStrike" u="none">
                <a:solidFill>
                  <a:srgbClr val="000000"/>
                </a:solidFill>
                <a:latin typeface="Poppins"/>
                <a:ea typeface="Poppins"/>
                <a:cs typeface="Poppins"/>
                <a:sym typeface="Poppins"/>
              </a:rPr>
              <a:t>oact</a:t>
            </a:r>
            <a:r>
              <a:rPr lang="en-US" sz="2884" strike="noStrike" u="none">
                <a:solidFill>
                  <a:srgbClr val="000000"/>
                </a:solidFill>
                <a:latin typeface="Poppins"/>
                <a:ea typeface="Poppins"/>
                <a:cs typeface="Poppins"/>
                <a:sym typeface="Poppins"/>
              </a:rPr>
              <a:t>i</a:t>
            </a:r>
            <a:r>
              <a:rPr lang="en-US" sz="2884" strike="noStrike" u="none">
                <a:solidFill>
                  <a:srgbClr val="000000"/>
                </a:solidFill>
                <a:latin typeface="Poppins"/>
                <a:ea typeface="Poppins"/>
                <a:cs typeface="Poppins"/>
                <a:sym typeface="Poppins"/>
              </a:rPr>
              <a:t>ve</a:t>
            </a:r>
            <a:r>
              <a:rPr lang="en-US" sz="2884" strike="noStrike" u="none">
                <a:solidFill>
                  <a:srgbClr val="000000"/>
                </a:solidFill>
                <a:latin typeface="Poppins"/>
                <a:ea typeface="Poppins"/>
                <a:cs typeface="Poppins"/>
                <a:sym typeface="Poppins"/>
              </a:rPr>
              <a:t> s</a:t>
            </a:r>
            <a:r>
              <a:rPr lang="en-US" sz="2884" strike="noStrike" u="none">
                <a:solidFill>
                  <a:srgbClr val="000000"/>
                </a:solidFill>
                <a:latin typeface="Poppins"/>
                <a:ea typeface="Poppins"/>
                <a:cs typeface="Poppins"/>
                <a:sym typeface="Poppins"/>
              </a:rPr>
              <a:t>y</a:t>
            </a:r>
            <a:r>
              <a:rPr lang="en-US" sz="2884" strike="noStrike" u="none">
                <a:solidFill>
                  <a:srgbClr val="000000"/>
                </a:solidFill>
                <a:latin typeface="Poppins"/>
                <a:ea typeface="Poppins"/>
                <a:cs typeface="Poppins"/>
                <a:sym typeface="Poppins"/>
              </a:rPr>
              <a:t>s</a:t>
            </a:r>
            <a:r>
              <a:rPr lang="en-US" sz="2884" strike="noStrike" u="none">
                <a:solidFill>
                  <a:srgbClr val="000000"/>
                </a:solidFill>
                <a:latin typeface="Poppins"/>
                <a:ea typeface="Poppins"/>
                <a:cs typeface="Poppins"/>
                <a:sym typeface="Poppins"/>
              </a:rPr>
              <a:t>t</a:t>
            </a:r>
            <a:r>
              <a:rPr lang="en-US" sz="2884" strike="noStrike" u="none">
                <a:solidFill>
                  <a:srgbClr val="000000"/>
                </a:solidFill>
                <a:latin typeface="Poppins"/>
                <a:ea typeface="Poppins"/>
                <a:cs typeface="Poppins"/>
                <a:sym typeface="Poppins"/>
              </a:rPr>
              <a:t>em)</a:t>
            </a:r>
          </a:p>
          <a:p>
            <a:pPr algn="l" marL="622691" indent="-311346" lvl="1">
              <a:lnSpc>
                <a:spcPts val="4037"/>
              </a:lnSpc>
              <a:spcBef>
                <a:spcPct val="0"/>
              </a:spcBef>
              <a:buFont typeface="Arial"/>
              <a:buChar char="•"/>
            </a:pPr>
            <a:r>
              <a:rPr lang="en-US" sz="2884" strike="noStrike" u="none">
                <a:solidFill>
                  <a:srgbClr val="000000"/>
                </a:solidFill>
                <a:latin typeface="Poppins"/>
                <a:ea typeface="Poppins"/>
                <a:cs typeface="Poppins"/>
                <a:sym typeface="Poppins"/>
              </a:rPr>
              <a:t>Prec</a:t>
            </a:r>
            <a:r>
              <a:rPr lang="en-US" sz="2884" strike="noStrike" u="none">
                <a:solidFill>
                  <a:srgbClr val="000000"/>
                </a:solidFill>
                <a:latin typeface="Poppins"/>
                <a:ea typeface="Poppins"/>
                <a:cs typeface="Poppins"/>
                <a:sym typeface="Poppins"/>
              </a:rPr>
              <a:t>ision: </a:t>
            </a:r>
            <a:r>
              <a:rPr lang="en-US" sz="2884" strike="noStrike" u="none">
                <a:solidFill>
                  <a:srgbClr val="000000"/>
                </a:solidFill>
                <a:latin typeface="Poppins"/>
                <a:ea typeface="Poppins"/>
                <a:cs typeface="Poppins"/>
                <a:sym typeface="Poppins"/>
              </a:rPr>
              <a:t>C</a:t>
            </a:r>
            <a:r>
              <a:rPr lang="en-US" sz="2884" strike="noStrike" u="none">
                <a:solidFill>
                  <a:srgbClr val="000000"/>
                </a:solidFill>
                <a:latin typeface="Poppins"/>
                <a:ea typeface="Poppins"/>
                <a:cs typeface="Poppins"/>
                <a:sym typeface="Poppins"/>
              </a:rPr>
              <a:t>or</a:t>
            </a:r>
            <a:r>
              <a:rPr lang="en-US" sz="2884" strike="noStrike" u="none">
                <a:solidFill>
                  <a:srgbClr val="000000"/>
                </a:solidFill>
                <a:latin typeface="Poppins"/>
                <a:ea typeface="Poppins"/>
                <a:cs typeface="Poppins"/>
                <a:sym typeface="Poppins"/>
              </a:rPr>
              <a:t>rec</a:t>
            </a:r>
            <a:r>
              <a:rPr lang="en-US" sz="2884" strike="noStrike" u="none">
                <a:solidFill>
                  <a:srgbClr val="000000"/>
                </a:solidFill>
                <a:latin typeface="Poppins"/>
                <a:ea typeface="Poppins"/>
                <a:cs typeface="Poppins"/>
                <a:sym typeface="Poppins"/>
              </a:rPr>
              <a:t>t f</a:t>
            </a:r>
            <a:r>
              <a:rPr lang="en-US" sz="2884" strike="noStrike" u="none">
                <a:solidFill>
                  <a:srgbClr val="000000"/>
                </a:solidFill>
                <a:latin typeface="Poppins"/>
                <a:ea typeface="Poppins"/>
                <a:cs typeface="Poppins"/>
                <a:sym typeface="Poppins"/>
              </a:rPr>
              <a:t>raud</a:t>
            </a:r>
            <a:r>
              <a:rPr lang="en-US" sz="2884" strike="noStrike" u="none">
                <a:solidFill>
                  <a:srgbClr val="000000"/>
                </a:solidFill>
                <a:latin typeface="Poppins"/>
                <a:ea typeface="Poppins"/>
                <a:cs typeface="Poppins"/>
                <a:sym typeface="Poppins"/>
              </a:rPr>
              <a:t> pr</a:t>
            </a:r>
            <a:r>
              <a:rPr lang="en-US" sz="2884" strike="noStrike" u="none">
                <a:solidFill>
                  <a:srgbClr val="000000"/>
                </a:solidFill>
                <a:latin typeface="Poppins"/>
                <a:ea typeface="Poppins"/>
                <a:cs typeface="Poppins"/>
                <a:sym typeface="Poppins"/>
              </a:rPr>
              <a:t>ed</a:t>
            </a:r>
            <a:r>
              <a:rPr lang="en-US" sz="2884" strike="noStrike" u="none">
                <a:solidFill>
                  <a:srgbClr val="000000"/>
                </a:solidFill>
                <a:latin typeface="Poppins"/>
                <a:ea typeface="Poppins"/>
                <a:cs typeface="Poppins"/>
                <a:sym typeface="Poppins"/>
              </a:rPr>
              <a:t>ict</a:t>
            </a:r>
            <a:r>
              <a:rPr lang="en-US" sz="2884" strike="noStrike" u="none">
                <a:solidFill>
                  <a:srgbClr val="000000"/>
                </a:solidFill>
                <a:latin typeface="Poppins"/>
                <a:ea typeface="Poppins"/>
                <a:cs typeface="Poppins"/>
                <a:sym typeface="Poppins"/>
              </a:rPr>
              <a:t>i</a:t>
            </a:r>
            <a:r>
              <a:rPr lang="en-US" sz="2884" strike="noStrike" u="none">
                <a:solidFill>
                  <a:srgbClr val="000000"/>
                </a:solidFill>
                <a:latin typeface="Poppins"/>
                <a:ea typeface="Poppins"/>
                <a:cs typeface="Poppins"/>
                <a:sym typeface="Poppins"/>
              </a:rPr>
              <a:t>ons</a:t>
            </a:r>
          </a:p>
          <a:p>
            <a:pPr algn="l" marL="622691" indent="-311346" lvl="1">
              <a:lnSpc>
                <a:spcPts val="4037"/>
              </a:lnSpc>
              <a:spcBef>
                <a:spcPct val="0"/>
              </a:spcBef>
              <a:buFont typeface="Arial"/>
              <a:buChar char="•"/>
            </a:pPr>
            <a:r>
              <a:rPr lang="en-US" sz="2884" strike="noStrike" u="none">
                <a:solidFill>
                  <a:srgbClr val="000000"/>
                </a:solidFill>
                <a:latin typeface="Poppins"/>
                <a:ea typeface="Poppins"/>
                <a:cs typeface="Poppins"/>
                <a:sym typeface="Poppins"/>
              </a:rPr>
              <a:t>F1-Sco</a:t>
            </a:r>
            <a:r>
              <a:rPr lang="en-US" sz="2884" strike="noStrike" u="none">
                <a:solidFill>
                  <a:srgbClr val="000000"/>
                </a:solidFill>
                <a:latin typeface="Poppins"/>
                <a:ea typeface="Poppins"/>
                <a:cs typeface="Poppins"/>
                <a:sym typeface="Poppins"/>
              </a:rPr>
              <a:t>re: Balance</a:t>
            </a:r>
            <a:r>
              <a:rPr lang="en-US" sz="2884" strike="noStrike" u="none">
                <a:solidFill>
                  <a:srgbClr val="000000"/>
                </a:solidFill>
                <a:latin typeface="Poppins"/>
                <a:ea typeface="Poppins"/>
                <a:cs typeface="Poppins"/>
                <a:sym typeface="Poppins"/>
              </a:rPr>
              <a:t> between precis</a:t>
            </a:r>
            <a:r>
              <a:rPr lang="en-US" sz="2884" strike="noStrike" u="none">
                <a:solidFill>
                  <a:srgbClr val="000000"/>
                </a:solidFill>
                <a:latin typeface="Poppins"/>
                <a:ea typeface="Poppins"/>
                <a:cs typeface="Poppins"/>
                <a:sym typeface="Poppins"/>
              </a:rPr>
              <a:t>ion &amp; r</a:t>
            </a:r>
            <a:r>
              <a:rPr lang="en-US" sz="2884" strike="noStrike" u="none">
                <a:solidFill>
                  <a:srgbClr val="000000"/>
                </a:solidFill>
                <a:latin typeface="Poppins"/>
                <a:ea typeface="Poppins"/>
                <a:cs typeface="Poppins"/>
                <a:sym typeface="Poppins"/>
              </a:rPr>
              <a:t>e</a:t>
            </a:r>
            <a:r>
              <a:rPr lang="en-US" sz="2884" strike="noStrike" u="none">
                <a:solidFill>
                  <a:srgbClr val="000000"/>
                </a:solidFill>
                <a:latin typeface="Poppins"/>
                <a:ea typeface="Poppins"/>
                <a:cs typeface="Poppins"/>
                <a:sym typeface="Poppins"/>
              </a:rPr>
              <a:t>ca</a:t>
            </a:r>
            <a:r>
              <a:rPr lang="en-US" sz="2884" strike="noStrike" u="none">
                <a:solidFill>
                  <a:srgbClr val="000000"/>
                </a:solidFill>
                <a:latin typeface="Poppins"/>
                <a:ea typeface="Poppins"/>
                <a:cs typeface="Poppins"/>
                <a:sym typeface="Poppins"/>
              </a:rPr>
              <a:t>l</a:t>
            </a:r>
            <a:r>
              <a:rPr lang="en-US" sz="2884" strike="noStrike" u="none">
                <a:solidFill>
                  <a:srgbClr val="000000"/>
                </a:solidFill>
                <a:latin typeface="Poppins"/>
                <a:ea typeface="Poppins"/>
                <a:cs typeface="Poppins"/>
                <a:sym typeface="Poppins"/>
              </a:rPr>
              <a:t>l</a:t>
            </a:r>
          </a:p>
          <a:p>
            <a:pPr algn="l" marL="622691" indent="-311346" lvl="1">
              <a:lnSpc>
                <a:spcPts val="4037"/>
              </a:lnSpc>
              <a:spcBef>
                <a:spcPct val="0"/>
              </a:spcBef>
              <a:buFont typeface="Arial"/>
              <a:buChar char="•"/>
            </a:pPr>
            <a:r>
              <a:rPr lang="en-US" sz="2884" strike="noStrike" u="none">
                <a:solidFill>
                  <a:srgbClr val="000000"/>
                </a:solidFill>
                <a:latin typeface="Poppins"/>
                <a:ea typeface="Poppins"/>
                <a:cs typeface="Poppins"/>
                <a:sym typeface="Poppins"/>
              </a:rPr>
              <a:t>MCC</a:t>
            </a:r>
            <a:r>
              <a:rPr lang="en-US" sz="2884" strike="noStrike" u="none">
                <a:solidFill>
                  <a:srgbClr val="000000"/>
                </a:solidFill>
                <a:latin typeface="Poppins"/>
                <a:ea typeface="Poppins"/>
                <a:cs typeface="Poppins"/>
                <a:sym typeface="Poppins"/>
              </a:rPr>
              <a:t> &amp; AUC: Ensure r</a:t>
            </a:r>
            <a:r>
              <a:rPr lang="en-US" sz="2884" strike="noStrike" u="none">
                <a:solidFill>
                  <a:srgbClr val="000000"/>
                </a:solidFill>
                <a:latin typeface="Poppins"/>
                <a:ea typeface="Poppins"/>
                <a:cs typeface="Poppins"/>
                <a:sym typeface="Poppins"/>
              </a:rPr>
              <a:t>el</a:t>
            </a:r>
            <a:r>
              <a:rPr lang="en-US" sz="2884" strike="noStrike" u="none">
                <a:solidFill>
                  <a:srgbClr val="000000"/>
                </a:solidFill>
                <a:latin typeface="Poppins"/>
                <a:ea typeface="Poppins"/>
                <a:cs typeface="Poppins"/>
                <a:sym typeface="Poppins"/>
              </a:rPr>
              <a:t>ia</a:t>
            </a:r>
            <a:r>
              <a:rPr lang="en-US" sz="2884" strike="noStrike" u="none">
                <a:solidFill>
                  <a:srgbClr val="000000"/>
                </a:solidFill>
                <a:latin typeface="Poppins"/>
                <a:ea typeface="Poppins"/>
                <a:cs typeface="Poppins"/>
                <a:sym typeface="Poppins"/>
              </a:rPr>
              <a:t>bi</a:t>
            </a:r>
            <a:r>
              <a:rPr lang="en-US" sz="2884" strike="noStrike" u="none">
                <a:solidFill>
                  <a:srgbClr val="000000"/>
                </a:solidFill>
                <a:latin typeface="Poppins"/>
                <a:ea typeface="Poppins"/>
                <a:cs typeface="Poppins"/>
                <a:sym typeface="Poppins"/>
              </a:rPr>
              <a:t>lity</a:t>
            </a:r>
            <a:r>
              <a:rPr lang="en-US" sz="2884" strike="noStrike" u="none">
                <a:solidFill>
                  <a:srgbClr val="000000"/>
                </a:solidFill>
                <a:latin typeface="Poppins"/>
                <a:ea typeface="Poppins"/>
                <a:cs typeface="Poppins"/>
                <a:sym typeface="Poppins"/>
              </a:rPr>
              <a:t> on imbal</a:t>
            </a:r>
            <a:r>
              <a:rPr lang="en-US" sz="2884" strike="noStrike" u="none">
                <a:solidFill>
                  <a:srgbClr val="000000"/>
                </a:solidFill>
                <a:latin typeface="Poppins"/>
                <a:ea typeface="Poppins"/>
                <a:cs typeface="Poppins"/>
                <a:sym typeface="Poppins"/>
              </a:rPr>
              <a:t>an</a:t>
            </a:r>
            <a:r>
              <a:rPr lang="en-US" sz="2884" strike="noStrike" u="none">
                <a:solidFill>
                  <a:srgbClr val="000000"/>
                </a:solidFill>
                <a:latin typeface="Poppins"/>
                <a:ea typeface="Poppins"/>
                <a:cs typeface="Poppins"/>
                <a:sym typeface="Poppins"/>
              </a:rPr>
              <a:t>ced d</a:t>
            </a:r>
            <a:r>
              <a:rPr lang="en-US" sz="2884" strike="noStrike" u="none">
                <a:solidFill>
                  <a:srgbClr val="000000"/>
                </a:solidFill>
                <a:latin typeface="Poppins"/>
                <a:ea typeface="Poppins"/>
                <a:cs typeface="Poppins"/>
                <a:sym typeface="Poppins"/>
              </a:rPr>
              <a:t>a</a:t>
            </a:r>
            <a:r>
              <a:rPr lang="en-US" sz="2884" strike="noStrike" u="none">
                <a:solidFill>
                  <a:srgbClr val="000000"/>
                </a:solidFill>
                <a:latin typeface="Poppins"/>
                <a:ea typeface="Poppins"/>
                <a:cs typeface="Poppins"/>
                <a:sym typeface="Poppins"/>
              </a:rPr>
              <a:t>ta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7064713" cy="10287000"/>
            <a:chOff x="0" y="0"/>
            <a:chExt cx="1860665" cy="2709333"/>
          </a:xfrm>
        </p:grpSpPr>
        <p:sp>
          <p:nvSpPr>
            <p:cNvPr name="Freeform 3" id="3"/>
            <p:cNvSpPr/>
            <p:nvPr/>
          </p:nvSpPr>
          <p:spPr>
            <a:xfrm flipH="false" flipV="false" rot="0">
              <a:off x="0" y="0"/>
              <a:ext cx="1860665" cy="2709333"/>
            </a:xfrm>
            <a:custGeom>
              <a:avLst/>
              <a:gdLst/>
              <a:ahLst/>
              <a:cxnLst/>
              <a:rect r="r" b="b" t="t" l="l"/>
              <a:pathLst>
                <a:path h="2709333" w="1860665">
                  <a:moveTo>
                    <a:pt x="0" y="0"/>
                  </a:moveTo>
                  <a:lnTo>
                    <a:pt x="1860665" y="0"/>
                  </a:lnTo>
                  <a:lnTo>
                    <a:pt x="1860665" y="2709333"/>
                  </a:lnTo>
                  <a:lnTo>
                    <a:pt x="0" y="2709333"/>
                  </a:lnTo>
                  <a:close/>
                </a:path>
              </a:pathLst>
            </a:custGeom>
            <a:solidFill>
              <a:srgbClr val="59B1C6"/>
            </a:solidFill>
          </p:spPr>
        </p:sp>
        <p:sp>
          <p:nvSpPr>
            <p:cNvPr name="TextBox 4" id="4"/>
            <p:cNvSpPr txBox="true"/>
            <p:nvPr/>
          </p:nvSpPr>
          <p:spPr>
            <a:xfrm>
              <a:off x="0" y="-66675"/>
              <a:ext cx="1860665" cy="2776008"/>
            </a:xfrm>
            <a:prstGeom prst="rect">
              <a:avLst/>
            </a:prstGeom>
          </p:spPr>
          <p:txBody>
            <a:bodyPr anchor="ctr" rtlCol="false" tIns="50800" lIns="50800" bIns="50800" rIns="50800"/>
            <a:lstStyle/>
            <a:p>
              <a:pPr algn="ctr">
                <a:lnSpc>
                  <a:spcPts val="2914"/>
                </a:lnSpc>
              </a:pPr>
            </a:p>
          </p:txBody>
        </p:sp>
      </p:grpSp>
      <p:sp>
        <p:nvSpPr>
          <p:cNvPr name="TextBox 5" id="5"/>
          <p:cNvSpPr txBox="true"/>
          <p:nvPr/>
        </p:nvSpPr>
        <p:spPr>
          <a:xfrm rot="0">
            <a:off x="7677955" y="1534678"/>
            <a:ext cx="9581345" cy="2294426"/>
          </a:xfrm>
          <a:prstGeom prst="rect">
            <a:avLst/>
          </a:prstGeom>
        </p:spPr>
        <p:txBody>
          <a:bodyPr anchor="t" rtlCol="false" tIns="0" lIns="0" bIns="0" rIns="0">
            <a:spAutoFit/>
          </a:bodyPr>
          <a:lstStyle/>
          <a:p>
            <a:pPr algn="r" marL="0" indent="0" lvl="0">
              <a:lnSpc>
                <a:spcPts val="8782"/>
              </a:lnSpc>
              <a:spcBef>
                <a:spcPct val="0"/>
              </a:spcBef>
            </a:pPr>
            <a:r>
              <a:rPr lang="en-US" b="true" sz="7318">
                <a:solidFill>
                  <a:srgbClr val="5492B1"/>
                </a:solidFill>
                <a:latin typeface="Poppins Semi-Bold"/>
                <a:ea typeface="Poppins Semi-Bold"/>
                <a:cs typeface="Poppins Semi-Bold"/>
                <a:sym typeface="Poppins Semi-Bold"/>
              </a:rPr>
              <a:t>Key Improvements over current system</a:t>
            </a:r>
          </a:p>
        </p:txBody>
      </p:sp>
      <p:sp>
        <p:nvSpPr>
          <p:cNvPr name="TextBox 6" id="6"/>
          <p:cNvSpPr txBox="true"/>
          <p:nvPr/>
        </p:nvSpPr>
        <p:spPr>
          <a:xfrm rot="0">
            <a:off x="7677955" y="4567029"/>
            <a:ext cx="9581345" cy="4290220"/>
          </a:xfrm>
          <a:prstGeom prst="rect">
            <a:avLst/>
          </a:prstGeom>
        </p:spPr>
        <p:txBody>
          <a:bodyPr anchor="t" rtlCol="false" tIns="0" lIns="0" bIns="0" rIns="0">
            <a:spAutoFit/>
          </a:bodyPr>
          <a:lstStyle/>
          <a:p>
            <a:pPr algn="just" marL="663143" indent="-331572" lvl="1">
              <a:lnSpc>
                <a:spcPts val="4300"/>
              </a:lnSpc>
              <a:buFont typeface="Arial"/>
              <a:buChar char="•"/>
            </a:pPr>
            <a:r>
              <a:rPr lang="en-US" sz="3071">
                <a:solidFill>
                  <a:srgbClr val="000000"/>
                </a:solidFill>
                <a:latin typeface="Poppins"/>
                <a:ea typeface="Poppins"/>
                <a:cs typeface="Poppins"/>
                <a:sym typeface="Poppins"/>
              </a:rPr>
              <a:t>Proactive detection: flags subtle, non-obvious fraud</a:t>
            </a:r>
          </a:p>
          <a:p>
            <a:pPr algn="just" marL="663143" indent="-331572" lvl="1">
              <a:lnSpc>
                <a:spcPts val="4300"/>
              </a:lnSpc>
              <a:buFont typeface="Arial"/>
              <a:buChar char="•"/>
            </a:pPr>
            <a:r>
              <a:rPr lang="en-US" sz="3071">
                <a:solidFill>
                  <a:srgbClr val="000000"/>
                </a:solidFill>
                <a:latin typeface="Poppins"/>
                <a:ea typeface="Poppins"/>
                <a:cs typeface="Poppins"/>
                <a:sym typeface="Poppins"/>
              </a:rPr>
              <a:t>High sensitivity: fewer missed frauds (higher recall)</a:t>
            </a:r>
          </a:p>
          <a:p>
            <a:pPr algn="just" marL="663143" indent="-331572" lvl="1">
              <a:lnSpc>
                <a:spcPts val="4300"/>
              </a:lnSpc>
              <a:buFont typeface="Arial"/>
              <a:buChar char="•"/>
            </a:pPr>
            <a:r>
              <a:rPr lang="en-US" sz="3071">
                <a:solidFill>
                  <a:srgbClr val="000000"/>
                </a:solidFill>
                <a:latin typeface="Poppins"/>
                <a:ea typeface="Poppins"/>
                <a:cs typeface="Poppins"/>
                <a:sym typeface="Poppins"/>
              </a:rPr>
              <a:t>Optimized features: faster scoring and reduced false positives</a:t>
            </a:r>
          </a:p>
          <a:p>
            <a:pPr algn="just" marL="663143" indent="-331572" lvl="1">
              <a:lnSpc>
                <a:spcPts val="4300"/>
              </a:lnSpc>
              <a:buFont typeface="Arial"/>
              <a:buChar char="•"/>
            </a:pPr>
            <a:r>
              <a:rPr lang="en-US" sz="3071">
                <a:solidFill>
                  <a:srgbClr val="000000"/>
                </a:solidFill>
                <a:latin typeface="Poppins"/>
                <a:ea typeface="Poppins"/>
                <a:cs typeface="Poppins"/>
                <a:sym typeface="Poppins"/>
              </a:rPr>
              <a:t>Scalable &amp; deployable for</a:t>
            </a:r>
            <a:r>
              <a:rPr lang="en-US" sz="3071">
                <a:solidFill>
                  <a:srgbClr val="000000"/>
                </a:solidFill>
                <a:latin typeface="Poppins"/>
                <a:ea typeface="Poppins"/>
                <a:cs typeface="Poppins"/>
                <a:sym typeface="Poppins"/>
              </a:rPr>
              <a:t> near real-time claim prioritization</a:t>
            </a:r>
          </a:p>
        </p:txBody>
      </p:sp>
      <p:sp>
        <p:nvSpPr>
          <p:cNvPr name="Freeform 7" id="7"/>
          <p:cNvSpPr/>
          <p:nvPr/>
        </p:nvSpPr>
        <p:spPr>
          <a:xfrm flipH="false" flipV="false" rot="0">
            <a:off x="14487780" y="5780054"/>
            <a:ext cx="3552570" cy="4266187"/>
          </a:xfrm>
          <a:custGeom>
            <a:avLst/>
            <a:gdLst/>
            <a:ahLst/>
            <a:cxnLst/>
            <a:rect r="r" b="b" t="t" l="l"/>
            <a:pathLst>
              <a:path h="4266187" w="3552570">
                <a:moveTo>
                  <a:pt x="0" y="0"/>
                </a:moveTo>
                <a:lnTo>
                  <a:pt x="3552570" y="0"/>
                </a:lnTo>
                <a:lnTo>
                  <a:pt x="3552570" y="4266186"/>
                </a:lnTo>
                <a:lnTo>
                  <a:pt x="0" y="42661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8" id="8"/>
          <p:cNvGrpSpPr/>
          <p:nvPr/>
        </p:nvGrpSpPr>
        <p:grpSpPr>
          <a:xfrm rot="0">
            <a:off x="909171" y="4783171"/>
            <a:ext cx="5246370" cy="4475129"/>
            <a:chOff x="0" y="0"/>
            <a:chExt cx="812800" cy="693315"/>
          </a:xfrm>
        </p:grpSpPr>
        <p:sp>
          <p:nvSpPr>
            <p:cNvPr name="Freeform 9" id="9"/>
            <p:cNvSpPr/>
            <p:nvPr/>
          </p:nvSpPr>
          <p:spPr>
            <a:xfrm flipH="false" flipV="false" rot="0">
              <a:off x="0" y="0"/>
              <a:ext cx="812800" cy="693315"/>
            </a:xfrm>
            <a:custGeom>
              <a:avLst/>
              <a:gdLst/>
              <a:ahLst/>
              <a:cxnLst/>
              <a:rect r="r" b="b" t="t" l="l"/>
              <a:pathLst>
                <a:path h="693315" w="812800">
                  <a:moveTo>
                    <a:pt x="33940" y="0"/>
                  </a:moveTo>
                  <a:lnTo>
                    <a:pt x="778860" y="0"/>
                  </a:lnTo>
                  <a:cubicBezTo>
                    <a:pt x="797604" y="0"/>
                    <a:pt x="812800" y="15196"/>
                    <a:pt x="812800" y="33940"/>
                  </a:cubicBezTo>
                  <a:lnTo>
                    <a:pt x="812800" y="659374"/>
                  </a:lnTo>
                  <a:cubicBezTo>
                    <a:pt x="812800" y="678119"/>
                    <a:pt x="797604" y="693315"/>
                    <a:pt x="778860" y="693315"/>
                  </a:cubicBezTo>
                  <a:lnTo>
                    <a:pt x="33940" y="693315"/>
                  </a:lnTo>
                  <a:cubicBezTo>
                    <a:pt x="24939" y="693315"/>
                    <a:pt x="16306" y="689739"/>
                    <a:pt x="9941" y="683374"/>
                  </a:cubicBezTo>
                  <a:cubicBezTo>
                    <a:pt x="3576" y="677009"/>
                    <a:pt x="0" y="668376"/>
                    <a:pt x="0" y="659374"/>
                  </a:cubicBezTo>
                  <a:lnTo>
                    <a:pt x="0" y="33940"/>
                  </a:lnTo>
                  <a:cubicBezTo>
                    <a:pt x="0" y="15196"/>
                    <a:pt x="15196" y="0"/>
                    <a:pt x="33940" y="0"/>
                  </a:cubicBezTo>
                  <a:close/>
                </a:path>
              </a:pathLst>
            </a:custGeom>
            <a:blipFill>
              <a:blip r:embed="rId4"/>
              <a:stretch>
                <a:fillRect l="0" t="-54207" r="0" b="-54207"/>
              </a:stretch>
            </a:blipFill>
          </p:spPr>
        </p:sp>
      </p:grpSp>
      <p:grpSp>
        <p:nvGrpSpPr>
          <p:cNvPr name="Group 10" id="10"/>
          <p:cNvGrpSpPr/>
          <p:nvPr/>
        </p:nvGrpSpPr>
        <p:grpSpPr>
          <a:xfrm rot="0">
            <a:off x="909171" y="1028700"/>
            <a:ext cx="5246370" cy="2931065"/>
            <a:chOff x="0" y="0"/>
            <a:chExt cx="812800" cy="454099"/>
          </a:xfrm>
        </p:grpSpPr>
        <p:sp>
          <p:nvSpPr>
            <p:cNvPr name="Freeform 11" id="11"/>
            <p:cNvSpPr/>
            <p:nvPr/>
          </p:nvSpPr>
          <p:spPr>
            <a:xfrm flipH="false" flipV="false" rot="0">
              <a:off x="0" y="0"/>
              <a:ext cx="812800" cy="454099"/>
            </a:xfrm>
            <a:custGeom>
              <a:avLst/>
              <a:gdLst/>
              <a:ahLst/>
              <a:cxnLst/>
              <a:rect r="r" b="b" t="t" l="l"/>
              <a:pathLst>
                <a:path h="454099" w="812800">
                  <a:moveTo>
                    <a:pt x="33940" y="0"/>
                  </a:moveTo>
                  <a:lnTo>
                    <a:pt x="778860" y="0"/>
                  </a:lnTo>
                  <a:cubicBezTo>
                    <a:pt x="797604" y="0"/>
                    <a:pt x="812800" y="15196"/>
                    <a:pt x="812800" y="33940"/>
                  </a:cubicBezTo>
                  <a:lnTo>
                    <a:pt x="812800" y="420158"/>
                  </a:lnTo>
                  <a:cubicBezTo>
                    <a:pt x="812800" y="438903"/>
                    <a:pt x="797604" y="454099"/>
                    <a:pt x="778860" y="454099"/>
                  </a:cubicBezTo>
                  <a:lnTo>
                    <a:pt x="33940" y="454099"/>
                  </a:lnTo>
                  <a:cubicBezTo>
                    <a:pt x="15196" y="454099"/>
                    <a:pt x="0" y="438903"/>
                    <a:pt x="0" y="420158"/>
                  </a:cubicBezTo>
                  <a:lnTo>
                    <a:pt x="0" y="33940"/>
                  </a:lnTo>
                  <a:cubicBezTo>
                    <a:pt x="0" y="15196"/>
                    <a:pt x="15196" y="0"/>
                    <a:pt x="33940" y="0"/>
                  </a:cubicBezTo>
                  <a:close/>
                </a:path>
              </a:pathLst>
            </a:custGeom>
            <a:blipFill>
              <a:blip r:embed="rId5"/>
              <a:stretch>
                <a:fillRect l="0" t="-84327" r="0" b="-84327"/>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5492B1"/>
        </a:solidFill>
      </p:bgPr>
    </p:bg>
    <p:spTree>
      <p:nvGrpSpPr>
        <p:cNvPr id="1" name=""/>
        <p:cNvGrpSpPr/>
        <p:nvPr/>
      </p:nvGrpSpPr>
      <p:grpSpPr>
        <a:xfrm>
          <a:off x="0" y="0"/>
          <a:ext cx="0" cy="0"/>
          <a:chOff x="0" y="0"/>
          <a:chExt cx="0" cy="0"/>
        </a:xfrm>
      </p:grpSpPr>
      <p:sp>
        <p:nvSpPr>
          <p:cNvPr name="Freeform 2" id="2"/>
          <p:cNvSpPr/>
          <p:nvPr/>
        </p:nvSpPr>
        <p:spPr>
          <a:xfrm flipH="false" flipV="false" rot="0">
            <a:off x="11364216" y="-437745"/>
            <a:ext cx="10403246" cy="3650594"/>
          </a:xfrm>
          <a:custGeom>
            <a:avLst/>
            <a:gdLst/>
            <a:ahLst/>
            <a:cxnLst/>
            <a:rect r="r" b="b" t="t" l="l"/>
            <a:pathLst>
              <a:path h="3650594" w="10403246">
                <a:moveTo>
                  <a:pt x="0" y="0"/>
                </a:moveTo>
                <a:lnTo>
                  <a:pt x="10403246" y="0"/>
                </a:lnTo>
                <a:lnTo>
                  <a:pt x="10403246" y="3650594"/>
                </a:lnTo>
                <a:lnTo>
                  <a:pt x="0" y="36505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942975"/>
            <a:ext cx="12044270" cy="1485826"/>
          </a:xfrm>
          <a:prstGeom prst="rect">
            <a:avLst/>
          </a:prstGeom>
        </p:spPr>
        <p:txBody>
          <a:bodyPr anchor="t" rtlCol="false" tIns="0" lIns="0" bIns="0" rIns="0">
            <a:spAutoFit/>
          </a:bodyPr>
          <a:lstStyle/>
          <a:p>
            <a:pPr algn="l" marL="0" indent="0" lvl="0">
              <a:lnSpc>
                <a:spcPts val="11040"/>
              </a:lnSpc>
            </a:pPr>
            <a:r>
              <a:rPr lang="en-US" b="true" sz="9200">
                <a:solidFill>
                  <a:srgbClr val="FFFFFF"/>
                </a:solidFill>
                <a:latin typeface="Poppins Semi-Bold"/>
                <a:ea typeface="Poppins Semi-Bold"/>
                <a:cs typeface="Poppins Semi-Bold"/>
                <a:sym typeface="Poppins Semi-Bold"/>
              </a:rPr>
              <a:t>Conclusion</a:t>
            </a:r>
          </a:p>
        </p:txBody>
      </p:sp>
      <p:sp>
        <p:nvSpPr>
          <p:cNvPr name="TextBox 4" id="4"/>
          <p:cNvSpPr txBox="true"/>
          <p:nvPr/>
        </p:nvSpPr>
        <p:spPr>
          <a:xfrm rot="0">
            <a:off x="1028700" y="3136649"/>
            <a:ext cx="9863358" cy="3878818"/>
          </a:xfrm>
          <a:prstGeom prst="rect">
            <a:avLst/>
          </a:prstGeom>
        </p:spPr>
        <p:txBody>
          <a:bodyPr anchor="t" rtlCol="false" tIns="0" lIns="0" bIns="0" rIns="0">
            <a:spAutoFit/>
          </a:bodyPr>
          <a:lstStyle/>
          <a:p>
            <a:pPr algn="l" marL="533227" indent="-266614" lvl="1">
              <a:lnSpc>
                <a:spcPts val="3457"/>
              </a:lnSpc>
              <a:buFont typeface="Arial"/>
              <a:buChar char="•"/>
            </a:pPr>
            <a:r>
              <a:rPr lang="en-US" sz="2469">
                <a:solidFill>
                  <a:srgbClr val="FFFFFF"/>
                </a:solidFill>
                <a:latin typeface="Poppins"/>
                <a:ea typeface="Poppins"/>
                <a:cs typeface="Poppins"/>
                <a:sym typeface="Poppins"/>
              </a:rPr>
              <a:t>This work develops an efficient insurance fraud detection system using balanced data, optimized feature selection, and machine learning models.</a:t>
            </a:r>
          </a:p>
          <a:p>
            <a:pPr algn="l" marL="533227" indent="-266614" lvl="1">
              <a:lnSpc>
                <a:spcPts val="3457"/>
              </a:lnSpc>
              <a:buFont typeface="Arial"/>
              <a:buChar char="•"/>
            </a:pPr>
            <a:r>
              <a:rPr lang="en-US" sz="2469">
                <a:solidFill>
                  <a:srgbClr val="FFFFFF"/>
                </a:solidFill>
                <a:latin typeface="Poppins"/>
                <a:ea typeface="Poppins"/>
                <a:cs typeface="Poppins"/>
                <a:sym typeface="Poppins"/>
              </a:rPr>
              <a:t> Among all models Random Forest delivered the best but due to overfitting we chose the second best which was LightGBM, which delivered the second best performance with strong generalization and stability.</a:t>
            </a:r>
          </a:p>
          <a:p>
            <a:pPr algn="l" marL="533227" indent="-266614" lvl="1">
              <a:lnSpc>
                <a:spcPts val="3457"/>
              </a:lnSpc>
              <a:buFont typeface="Arial"/>
              <a:buChar char="•"/>
            </a:pPr>
            <a:r>
              <a:rPr lang="en-US" sz="2469">
                <a:solidFill>
                  <a:srgbClr val="FFFFFF"/>
                </a:solidFill>
                <a:latin typeface="Poppins"/>
                <a:ea typeface="Poppins"/>
                <a:cs typeface="Poppins"/>
                <a:sym typeface="Poppins"/>
              </a:rPr>
              <a:t> The trained model was saved for deployment, enabling practical real-world fraud detection.</a:t>
            </a:r>
          </a:p>
        </p:txBody>
      </p:sp>
      <p:sp>
        <p:nvSpPr>
          <p:cNvPr name="Freeform 5" id="5"/>
          <p:cNvSpPr/>
          <p:nvPr/>
        </p:nvSpPr>
        <p:spPr>
          <a:xfrm flipH="true" flipV="false" rot="0">
            <a:off x="207960" y="5780054"/>
            <a:ext cx="3552570" cy="4266187"/>
          </a:xfrm>
          <a:custGeom>
            <a:avLst/>
            <a:gdLst/>
            <a:ahLst/>
            <a:cxnLst/>
            <a:rect r="r" b="b" t="t" l="l"/>
            <a:pathLst>
              <a:path h="4266187" w="3552570">
                <a:moveTo>
                  <a:pt x="3552570" y="0"/>
                </a:moveTo>
                <a:lnTo>
                  <a:pt x="0" y="0"/>
                </a:lnTo>
                <a:lnTo>
                  <a:pt x="0" y="4266186"/>
                </a:lnTo>
                <a:lnTo>
                  <a:pt x="3552570" y="4266186"/>
                </a:lnTo>
                <a:lnTo>
                  <a:pt x="355257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0">
            <a:off x="11120429" y="3394694"/>
            <a:ext cx="5643075" cy="6892306"/>
          </a:xfrm>
          <a:custGeom>
            <a:avLst/>
            <a:gdLst/>
            <a:ahLst/>
            <a:cxnLst/>
            <a:rect r="r" b="b" t="t" l="l"/>
            <a:pathLst>
              <a:path h="6892306" w="5643075">
                <a:moveTo>
                  <a:pt x="5643075" y="0"/>
                </a:moveTo>
                <a:lnTo>
                  <a:pt x="0" y="0"/>
                </a:lnTo>
                <a:lnTo>
                  <a:pt x="0" y="6892306"/>
                </a:lnTo>
                <a:lnTo>
                  <a:pt x="5643075" y="6892306"/>
                </a:lnTo>
                <a:lnTo>
                  <a:pt x="5643075" y="0"/>
                </a:lnTo>
                <a:close/>
              </a:path>
            </a:pathLst>
          </a:custGeom>
          <a:blipFill>
            <a:blip r:embed="rId6"/>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DAG8OocUj38</dc:identifier>
  <dcterms:modified xsi:type="dcterms:W3CDTF">2011-08-01T06:04:30Z</dcterms:modified>
  <cp:revision>1</cp:revision>
  <dc:title>White Blue Illustration Intelligence Redefined Presentation</dc:title>
</cp:coreProperties>
</file>